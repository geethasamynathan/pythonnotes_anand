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1" r:id="rId5"/>
    <p:sldId id="262" r:id="rId6"/>
    <p:sldId id="258" r:id="rId7"/>
    <p:sldId id="260" r:id="rId8"/>
    <p:sldId id="263" r:id="rId9"/>
    <p:sldId id="264" r:id="rId10"/>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7" d="100"/>
          <a:sy n="107" d="100"/>
        </p:scale>
        <p:origin x="754" y="7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5/26/2025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5/26/2025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5/26/2025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5/26/2025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5/26/2025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5/26/2025</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Type of Variable</a:t>
            </a:r>
            <a:endParaRPr lang="en-IN"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971550"/>
            <a:ext cx="8229600" cy="3394472"/>
          </a:xfrm>
        </p:spPr>
        <p:txBody>
          <a:bodyPr>
            <a:normAutofit/>
          </a:bodyPr>
          <a:lstStyle/>
          <a:p>
            <a:r>
              <a:rPr lang="en-US" sz="2400" dirty="0">
                <a:latin typeface="Times New Roman" pitchFamily="18" charset="0"/>
                <a:cs typeface="Times New Roman" pitchFamily="18" charset="0"/>
              </a:rPr>
              <a:t>Instance Variable </a:t>
            </a:r>
          </a:p>
          <a:p>
            <a:r>
              <a:rPr lang="en-US" sz="2400" dirty="0">
                <a:latin typeface="Times New Roman" pitchFamily="18" charset="0"/>
                <a:cs typeface="Times New Roman" pitchFamily="18" charset="0"/>
              </a:rPr>
              <a:t>Class Variable / Static Variable</a:t>
            </a:r>
            <a:endParaRPr lang="en-IN" sz="2400" dirty="0">
              <a:latin typeface="Times New Roman" pitchFamily="18" charset="0"/>
              <a:cs typeface="Times New Roman" pitchFamily="18" charset="0"/>
            </a:endParaRPr>
          </a:p>
        </p:txBody>
      </p:sp>
    </p:spTree>
    <p:extLst>
      <p:ext uri="{BB962C8B-B14F-4D97-AF65-F5344CB8AC3E}">
        <p14:creationId xmlns:p14="http://schemas.microsoft.com/office/powerpoint/2010/main" val="3005634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Instance Variable </a:t>
            </a:r>
          </a:p>
        </p:txBody>
      </p:sp>
      <p:sp>
        <p:nvSpPr>
          <p:cNvPr id="3" name="Content Placeholder 2"/>
          <p:cNvSpPr>
            <a:spLocks noGrp="1"/>
          </p:cNvSpPr>
          <p:nvPr>
            <p:ph idx="1"/>
          </p:nvPr>
        </p:nvSpPr>
        <p:spPr>
          <a:xfrm>
            <a:off x="457200" y="971550"/>
            <a:ext cx="8229600" cy="3810000"/>
          </a:xfrm>
        </p:spPr>
        <p:txBody>
          <a:bodyPr>
            <a:normAutofit/>
          </a:bodyPr>
          <a:lstStyle/>
          <a:p>
            <a:pPr marL="0" indent="0">
              <a:buNone/>
            </a:pPr>
            <a:r>
              <a:rPr lang="en-US" sz="1800" dirty="0">
                <a:latin typeface="Times New Roman" pitchFamily="18" charset="0"/>
                <a:cs typeface="Times New Roman" pitchFamily="18" charset="0"/>
              </a:rPr>
              <a:t>Instance variables are the variables whose separate copy is created in every object.</a:t>
            </a:r>
          </a:p>
          <a:p>
            <a:pPr marL="0" indent="0">
              <a:buNone/>
            </a:pPr>
            <a:r>
              <a:rPr lang="en-US" sz="1800" dirty="0">
                <a:latin typeface="Times New Roman" pitchFamily="18" charset="0"/>
                <a:cs typeface="Times New Roman" pitchFamily="18" charset="0"/>
              </a:rPr>
              <a:t>Instance variables are defined and initialized using a constructor with self parameter. </a:t>
            </a:r>
          </a:p>
          <a:p>
            <a:pPr marL="0" indent="0">
              <a:buNone/>
            </a:pPr>
            <a:r>
              <a:rPr lang="en-US" sz="1800" dirty="0">
                <a:latin typeface="Times New Roman" pitchFamily="18" charset="0"/>
                <a:cs typeface="Times New Roman" pitchFamily="18" charset="0"/>
              </a:rPr>
              <a:t>Ex:-</a:t>
            </a:r>
          </a:p>
          <a:p>
            <a:pPr marL="0" indent="0">
              <a:buNone/>
            </a:pPr>
            <a:r>
              <a:rPr lang="en-US" sz="1800" dirty="0">
                <a:latin typeface="Times New Roman" pitchFamily="18" charset="0"/>
                <a:cs typeface="Times New Roman" pitchFamily="18" charset="0"/>
              </a:rPr>
              <a:t>class Mobile</a:t>
            </a:r>
            <a:r>
              <a:rPr lang="en-US" sz="1800" b="1" dirty="0">
                <a:latin typeface="Times New Roman" pitchFamily="18" charset="0"/>
                <a:cs typeface="Times New Roman" pitchFamily="18" charset="0"/>
              </a:rPr>
              <a:t>:</a:t>
            </a:r>
          </a:p>
          <a:p>
            <a:pPr marL="0" indent="0">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def</a:t>
            </a:r>
            <a:r>
              <a:rPr lang="en-US" sz="1800" dirty="0">
                <a:latin typeface="Times New Roman" pitchFamily="18" charset="0"/>
                <a:cs typeface="Times New Roman" pitchFamily="18" charset="0"/>
              </a:rPr>
              <a:t> __</a:t>
            </a:r>
            <a:r>
              <a:rPr lang="en-US" sz="1800" dirty="0" err="1">
                <a:latin typeface="Times New Roman" pitchFamily="18" charset="0"/>
                <a:cs typeface="Times New Roman" pitchFamily="18" charset="0"/>
              </a:rPr>
              <a:t>init</a:t>
            </a:r>
            <a:r>
              <a:rPr lang="en-US" sz="1800" dirty="0">
                <a:latin typeface="Times New Roman" pitchFamily="18" charset="0"/>
                <a:cs typeface="Times New Roman" pitchFamily="18" charset="0"/>
              </a:rPr>
              <a:t>__(self):</a:t>
            </a:r>
          </a:p>
          <a:p>
            <a:pPr marL="0" indent="0">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self.model</a:t>
            </a:r>
            <a:r>
              <a:rPr lang="en-US" sz="1800" dirty="0">
                <a:latin typeface="Times New Roman" pitchFamily="18" charset="0"/>
                <a:cs typeface="Times New Roman" pitchFamily="18" charset="0"/>
              </a:rPr>
              <a:t> = ‘</a:t>
            </a:r>
            <a:r>
              <a:rPr lang="en-US" sz="1800" dirty="0" err="1">
                <a:latin typeface="Times New Roman" pitchFamily="18" charset="0"/>
                <a:cs typeface="Times New Roman" pitchFamily="18" charset="0"/>
              </a:rPr>
              <a:t>RealMe</a:t>
            </a:r>
            <a:r>
              <a:rPr lang="en-US" sz="1800" dirty="0">
                <a:latin typeface="Times New Roman" pitchFamily="18" charset="0"/>
                <a:cs typeface="Times New Roman" pitchFamily="18" charset="0"/>
              </a:rPr>
              <a:t> X’</a:t>
            </a:r>
          </a:p>
          <a:p>
            <a:pPr marL="0" indent="0">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def</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show_model</a:t>
            </a:r>
            <a:r>
              <a:rPr lang="en-US" sz="1800" dirty="0">
                <a:latin typeface="Times New Roman" pitchFamily="18" charset="0"/>
                <a:cs typeface="Times New Roman" pitchFamily="18" charset="0"/>
              </a:rPr>
              <a:t>(self):</a:t>
            </a:r>
          </a:p>
          <a:p>
            <a:pPr marL="0" indent="0">
              <a:buNone/>
            </a:pPr>
            <a:r>
              <a:rPr lang="en-US" sz="1800" dirty="0">
                <a:latin typeface="Times New Roman" pitchFamily="18" charset="0"/>
                <a:cs typeface="Times New Roman" pitchFamily="18" charset="0"/>
              </a:rPr>
              <a:t>	print(</a:t>
            </a:r>
            <a:r>
              <a:rPr lang="en-US" sz="1800" dirty="0" err="1">
                <a:latin typeface="Times New Roman" pitchFamily="18" charset="0"/>
                <a:cs typeface="Times New Roman" pitchFamily="18" charset="0"/>
              </a:rPr>
              <a:t>self.model</a:t>
            </a:r>
            <a:r>
              <a:rPr lang="en-US" sz="1800" dirty="0">
                <a:latin typeface="Times New Roman" pitchFamily="18" charset="0"/>
                <a:cs typeface="Times New Roman" pitchFamily="18" charset="0"/>
              </a:rPr>
              <a:t>)</a:t>
            </a:r>
          </a:p>
          <a:p>
            <a:pPr marL="0" indent="0">
              <a:buNone/>
            </a:pPr>
            <a:r>
              <a:rPr lang="en-US" sz="1800" dirty="0" err="1">
                <a:latin typeface="Times New Roman" pitchFamily="18" charset="0"/>
                <a:cs typeface="Times New Roman" pitchFamily="18" charset="0"/>
              </a:rPr>
              <a:t>realme</a:t>
            </a:r>
            <a:r>
              <a:rPr lang="en-US" sz="1800" dirty="0">
                <a:latin typeface="Times New Roman" pitchFamily="18" charset="0"/>
                <a:cs typeface="Times New Roman" pitchFamily="18" charset="0"/>
              </a:rPr>
              <a:t> = Mobile( )</a:t>
            </a:r>
            <a:endParaRPr lang="en-IN" sz="1800" dirty="0">
              <a:latin typeface="Times New Roman" pitchFamily="18" charset="0"/>
              <a:cs typeface="Times New Roman" pitchFamily="18" charset="0"/>
            </a:endParaRPr>
          </a:p>
        </p:txBody>
      </p:sp>
      <p:sp>
        <p:nvSpPr>
          <p:cNvPr id="4" name="TextBox 3"/>
          <p:cNvSpPr txBox="1"/>
          <p:nvPr/>
        </p:nvSpPr>
        <p:spPr>
          <a:xfrm>
            <a:off x="4648200" y="2605278"/>
            <a:ext cx="1433662" cy="30777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400" dirty="0"/>
              <a:t>Instance Variable</a:t>
            </a:r>
            <a:endParaRPr lang="en-IN" sz="1400" dirty="0"/>
          </a:p>
        </p:txBody>
      </p:sp>
      <p:cxnSp>
        <p:nvCxnSpPr>
          <p:cNvPr id="6" name="Straight Arrow Connector 5"/>
          <p:cNvCxnSpPr>
            <a:stCxn id="4" idx="1"/>
          </p:cNvCxnSpPr>
          <p:nvPr/>
        </p:nvCxnSpPr>
        <p:spPr>
          <a:xfrm flipH="1">
            <a:off x="3886200" y="2759167"/>
            <a:ext cx="7620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319785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fade">
                                      <p:cBhvr>
                                        <p:cTn id="52" dur="500"/>
                                        <p:tgtEl>
                                          <p:spTgt spid="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
            <a:ext cx="8229600" cy="762000"/>
          </a:xfrm>
        </p:spPr>
        <p:txBody>
          <a:bodyPr>
            <a:normAutofit/>
          </a:bodyPr>
          <a:lstStyle/>
          <a:p>
            <a:r>
              <a:rPr lang="en-US" sz="3600" b="1" u="sng" dirty="0">
                <a:latin typeface="Times New Roman" pitchFamily="18" charset="0"/>
                <a:cs typeface="Times New Roman" pitchFamily="18" charset="0"/>
              </a:rPr>
              <a:t>Accessing Instance Variable </a:t>
            </a:r>
          </a:p>
        </p:txBody>
      </p:sp>
      <p:sp>
        <p:nvSpPr>
          <p:cNvPr id="3" name="Content Placeholder 2"/>
          <p:cNvSpPr>
            <a:spLocks noGrp="1"/>
          </p:cNvSpPr>
          <p:nvPr>
            <p:ph idx="1"/>
          </p:nvPr>
        </p:nvSpPr>
        <p:spPr>
          <a:xfrm>
            <a:off x="457200" y="819150"/>
            <a:ext cx="8229600" cy="3886200"/>
          </a:xfrm>
        </p:spPr>
        <p:txBody>
          <a:bodyPr>
            <a:normAutofit/>
          </a:bodyPr>
          <a:lstStyle/>
          <a:p>
            <a:pPr marL="0" indent="0">
              <a:buNone/>
            </a:pPr>
            <a:r>
              <a:rPr lang="en-US" sz="1800" b="1" u="sng" dirty="0">
                <a:latin typeface="Times New Roman" pitchFamily="18" charset="0"/>
                <a:cs typeface="Times New Roman" pitchFamily="18" charset="0"/>
              </a:rPr>
              <a:t>With Instance Method</a:t>
            </a:r>
          </a:p>
          <a:p>
            <a:pPr marL="0" indent="0">
              <a:buNone/>
            </a:pPr>
            <a:r>
              <a:rPr lang="en-US" sz="1800" dirty="0">
                <a:latin typeface="Times New Roman" pitchFamily="18" charset="0"/>
                <a:cs typeface="Times New Roman" pitchFamily="18" charset="0"/>
              </a:rPr>
              <a:t>To access instance variable, we need instance methods with self as first parameter then we can access instance variable using </a:t>
            </a:r>
            <a:r>
              <a:rPr lang="en-US" sz="1800" dirty="0" err="1">
                <a:latin typeface="Times New Roman" pitchFamily="18" charset="0"/>
                <a:cs typeface="Times New Roman" pitchFamily="18" charset="0"/>
              </a:rPr>
              <a:t>self.variable_name</a:t>
            </a:r>
            <a:endParaRPr lang="en-US" sz="1800"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class Mobile</a:t>
            </a:r>
            <a:r>
              <a:rPr lang="en-US" sz="1600" b="1" dirty="0">
                <a:latin typeface="Times New Roman" pitchFamily="18" charset="0"/>
                <a:cs typeface="Times New Roman" pitchFamily="18" charset="0"/>
              </a:rPr>
              <a:t>:</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__</a:t>
            </a:r>
            <a:r>
              <a:rPr lang="en-US" sz="1600" dirty="0" err="1">
                <a:latin typeface="Times New Roman" pitchFamily="18" charset="0"/>
                <a:cs typeface="Times New Roman" pitchFamily="18" charset="0"/>
              </a:rPr>
              <a:t>init</a:t>
            </a:r>
            <a:r>
              <a:rPr lang="en-US" sz="1600" dirty="0">
                <a:latin typeface="Times New Roman" pitchFamily="18" charset="0"/>
                <a:cs typeface="Times New Roman" pitchFamily="18" charset="0"/>
              </a:rPr>
              <a:t>__(self):</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self.model</a:t>
            </a:r>
            <a:r>
              <a:rPr lang="en-US" sz="1600" dirty="0">
                <a:latin typeface="Times New Roman" pitchFamily="18" charset="0"/>
                <a:cs typeface="Times New Roman" pitchFamily="18" charset="0"/>
              </a:rPr>
              <a:t> = ‘</a:t>
            </a:r>
            <a:r>
              <a:rPr lang="en-US" sz="1600" dirty="0" err="1">
                <a:latin typeface="Times New Roman" pitchFamily="18" charset="0"/>
                <a:cs typeface="Times New Roman" pitchFamily="18" charset="0"/>
              </a:rPr>
              <a:t>RealMe</a:t>
            </a:r>
            <a:r>
              <a:rPr lang="en-US" sz="1600" dirty="0">
                <a:latin typeface="Times New Roman" pitchFamily="18" charset="0"/>
                <a:cs typeface="Times New Roman" pitchFamily="18" charset="0"/>
              </a:rPr>
              <a:t> X’</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show_model</a:t>
            </a:r>
            <a:r>
              <a:rPr lang="en-US" sz="1600" dirty="0">
                <a:latin typeface="Times New Roman" pitchFamily="18" charset="0"/>
                <a:cs typeface="Times New Roman" pitchFamily="18" charset="0"/>
              </a:rPr>
              <a:t>(self):</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self.model</a:t>
            </a:r>
            <a:endParaRPr lang="en-US" sz="1600" dirty="0">
              <a:latin typeface="Times New Roman" pitchFamily="18" charset="0"/>
              <a:cs typeface="Times New Roman" pitchFamily="18" charset="0"/>
            </a:endParaRPr>
          </a:p>
          <a:p>
            <a:pPr marL="0" indent="0">
              <a:buNone/>
            </a:pPr>
            <a:r>
              <a:rPr lang="en-US" sz="1600" dirty="0" err="1">
                <a:latin typeface="Times New Roman" pitchFamily="18" charset="0"/>
                <a:cs typeface="Times New Roman" pitchFamily="18" charset="0"/>
              </a:rPr>
              <a:t>realme</a:t>
            </a:r>
            <a:r>
              <a:rPr lang="en-US" sz="1600" dirty="0">
                <a:latin typeface="Times New Roman" pitchFamily="18" charset="0"/>
                <a:cs typeface="Times New Roman" pitchFamily="18" charset="0"/>
              </a:rPr>
              <a:t> = Mobile( )</a:t>
            </a:r>
            <a:endParaRPr lang="en-IN" sz="1600" dirty="0">
              <a:latin typeface="Times New Roman" pitchFamily="18" charset="0"/>
              <a:cs typeface="Times New Roman" pitchFamily="18" charset="0"/>
            </a:endParaRPr>
          </a:p>
        </p:txBody>
      </p:sp>
      <p:sp>
        <p:nvSpPr>
          <p:cNvPr id="4" name="TextBox 3"/>
          <p:cNvSpPr txBox="1"/>
          <p:nvPr/>
        </p:nvSpPr>
        <p:spPr>
          <a:xfrm>
            <a:off x="3962400" y="2233659"/>
            <a:ext cx="1249701" cy="27699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t>Instance Variable</a:t>
            </a:r>
            <a:endParaRPr lang="en-IN" sz="1200" dirty="0"/>
          </a:p>
        </p:txBody>
      </p:sp>
      <p:cxnSp>
        <p:nvCxnSpPr>
          <p:cNvPr id="5" name="Straight Arrow Connector 4"/>
          <p:cNvCxnSpPr>
            <a:stCxn id="4" idx="1"/>
          </p:cNvCxnSpPr>
          <p:nvPr/>
        </p:nvCxnSpPr>
        <p:spPr>
          <a:xfrm flipH="1">
            <a:off x="3581400" y="2372159"/>
            <a:ext cx="381000" cy="4719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639323" y="3285351"/>
            <a:ext cx="1927772" cy="27699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t>Accessing Instance Variable </a:t>
            </a:r>
            <a:endParaRPr lang="en-IN" sz="1200" dirty="0"/>
          </a:p>
        </p:txBody>
      </p:sp>
      <p:cxnSp>
        <p:nvCxnSpPr>
          <p:cNvPr id="11" name="Straight Arrow Connector 10"/>
          <p:cNvCxnSpPr>
            <a:stCxn id="10" idx="1"/>
          </p:cNvCxnSpPr>
          <p:nvPr/>
        </p:nvCxnSpPr>
        <p:spPr>
          <a:xfrm flipH="1" flipV="1">
            <a:off x="2136425" y="3209151"/>
            <a:ext cx="502898" cy="2147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3048000" y="2663058"/>
            <a:ext cx="1244636" cy="27699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t>Instance Method</a:t>
            </a:r>
            <a:endParaRPr lang="en-IN" sz="1200" dirty="0"/>
          </a:p>
        </p:txBody>
      </p:sp>
      <p:cxnSp>
        <p:nvCxnSpPr>
          <p:cNvPr id="13" name="Straight Arrow Connector 12"/>
          <p:cNvCxnSpPr>
            <a:stCxn id="12" idx="1"/>
          </p:cNvCxnSpPr>
          <p:nvPr/>
        </p:nvCxnSpPr>
        <p:spPr>
          <a:xfrm flipH="1">
            <a:off x="2667000" y="2801558"/>
            <a:ext cx="381000" cy="47191"/>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9589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500"/>
                                        <p:tgtEl>
                                          <p:spTgt spid="5"/>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fade">
                                      <p:cBhvr>
                                        <p:cTn id="50" dur="500"/>
                                        <p:tgtEl>
                                          <p:spTgt spid="4"/>
                                        </p:tgtEl>
                                      </p:cBhvr>
                                    </p:animEffect>
                                  </p:childTnLst>
                                </p:cTn>
                              </p:par>
                            </p:childTnLst>
                          </p:cTn>
                        </p:par>
                      </p:childTnLst>
                    </p:cTn>
                  </p:par>
                  <p:par>
                    <p:cTn id="51" fill="hold">
                      <p:stCondLst>
                        <p:cond delay="indefinite"/>
                      </p:stCondLst>
                      <p:childTnLst>
                        <p:par>
                          <p:cTn id="52" fill="hold">
                            <p:stCondLst>
                              <p:cond delay="0"/>
                            </p:stCondLst>
                            <p:childTnLst>
                              <p:par>
                                <p:cTn id="53" presetID="10" presetClass="entr" presetSubtype="0" fill="hold" nodeType="click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500"/>
                                        <p:tgtEl>
                                          <p:spTgt spid="1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0"/>
                                        </p:tgtEl>
                                        <p:attrNameLst>
                                          <p:attrName>style.visibility</p:attrName>
                                        </p:attrNameLst>
                                      </p:cBhvr>
                                      <p:to>
                                        <p:strVal val="visible"/>
                                      </p:to>
                                    </p:set>
                                    <p:animEffect transition="in" filter="fade">
                                      <p:cBhvr>
                                        <p:cTn id="58" dur="500"/>
                                        <p:tgtEl>
                                          <p:spTgt spid="10"/>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nodeType="clickEffect">
                                  <p:stCondLst>
                                    <p:cond delay="0"/>
                                  </p:stCondLst>
                                  <p:childTnLst>
                                    <p:set>
                                      <p:cBhvr>
                                        <p:cTn id="62" dur="1" fill="hold">
                                          <p:stCondLst>
                                            <p:cond delay="0"/>
                                          </p:stCondLst>
                                        </p:cTn>
                                        <p:tgtEl>
                                          <p:spTgt spid="13"/>
                                        </p:tgtEl>
                                        <p:attrNameLst>
                                          <p:attrName>style.visibility</p:attrName>
                                        </p:attrNameLst>
                                      </p:cBhvr>
                                      <p:to>
                                        <p:strVal val="visible"/>
                                      </p:to>
                                    </p:set>
                                    <p:animEffect transition="in" filter="fade">
                                      <p:cBhvr>
                                        <p:cTn id="63" dur="500"/>
                                        <p:tgtEl>
                                          <p:spTgt spid="1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12"/>
                                        </p:tgtEl>
                                        <p:attrNameLst>
                                          <p:attrName>style.visibility</p:attrName>
                                        </p:attrNameLst>
                                      </p:cBhvr>
                                      <p:to>
                                        <p:strVal val="visible"/>
                                      </p:to>
                                    </p:set>
                                    <p:animEffect transition="in" filter="fade">
                                      <p:cBhvr>
                                        <p:cTn id="66"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10" grpId="0" animBg="1"/>
      <p:bldP spid="1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
            <a:ext cx="8229600" cy="704850"/>
          </a:xfrm>
        </p:spPr>
        <p:txBody>
          <a:bodyPr>
            <a:normAutofit/>
          </a:bodyPr>
          <a:lstStyle/>
          <a:p>
            <a:r>
              <a:rPr lang="en-US" sz="3600" b="1" u="sng" dirty="0">
                <a:latin typeface="Times New Roman" pitchFamily="18" charset="0"/>
                <a:cs typeface="Times New Roman" pitchFamily="18" charset="0"/>
              </a:rPr>
              <a:t>Accessing Instance Variable </a:t>
            </a:r>
          </a:p>
        </p:txBody>
      </p:sp>
      <p:sp>
        <p:nvSpPr>
          <p:cNvPr id="3" name="Content Placeholder 2"/>
          <p:cNvSpPr>
            <a:spLocks noGrp="1"/>
          </p:cNvSpPr>
          <p:nvPr>
            <p:ph idx="1"/>
          </p:nvPr>
        </p:nvSpPr>
        <p:spPr>
          <a:xfrm>
            <a:off x="457200" y="666750"/>
            <a:ext cx="8229600" cy="4267200"/>
          </a:xfrm>
        </p:spPr>
        <p:txBody>
          <a:bodyPr>
            <a:normAutofit/>
          </a:bodyPr>
          <a:lstStyle/>
          <a:p>
            <a:pPr marL="0" indent="0">
              <a:buNone/>
            </a:pPr>
            <a:r>
              <a:rPr lang="en-US" sz="1800" b="1" u="sng" dirty="0">
                <a:latin typeface="Times New Roman" pitchFamily="18" charset="0"/>
                <a:cs typeface="Times New Roman" pitchFamily="18" charset="0"/>
              </a:rPr>
              <a:t>Outside Class</a:t>
            </a:r>
          </a:p>
          <a:p>
            <a:pPr marL="0" indent="0">
              <a:buNone/>
            </a:pPr>
            <a:r>
              <a:rPr lang="en-US" sz="1800" dirty="0">
                <a:latin typeface="Times New Roman" pitchFamily="18" charset="0"/>
                <a:cs typeface="Times New Roman" pitchFamily="18" charset="0"/>
              </a:rPr>
              <a:t>We can access instance variable using </a:t>
            </a:r>
            <a:r>
              <a:rPr lang="en-US" sz="1800" dirty="0" err="1">
                <a:latin typeface="Times New Roman" pitchFamily="18" charset="0"/>
                <a:cs typeface="Times New Roman" pitchFamily="18" charset="0"/>
              </a:rPr>
              <a:t>object_name.variable_name</a:t>
            </a:r>
            <a:endParaRPr lang="en-US" sz="1800"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class Mobile</a:t>
            </a:r>
            <a:r>
              <a:rPr lang="en-US" sz="1600" b="1" dirty="0">
                <a:latin typeface="Times New Roman" pitchFamily="18" charset="0"/>
                <a:cs typeface="Times New Roman" pitchFamily="18" charset="0"/>
              </a:rPr>
              <a:t>:</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__</a:t>
            </a:r>
            <a:r>
              <a:rPr lang="en-US" sz="1600" dirty="0" err="1">
                <a:latin typeface="Times New Roman" pitchFamily="18" charset="0"/>
                <a:cs typeface="Times New Roman" pitchFamily="18" charset="0"/>
              </a:rPr>
              <a:t>init</a:t>
            </a:r>
            <a:r>
              <a:rPr lang="en-US" sz="1600" dirty="0">
                <a:latin typeface="Times New Roman" pitchFamily="18" charset="0"/>
                <a:cs typeface="Times New Roman" pitchFamily="18" charset="0"/>
              </a:rPr>
              <a:t>__(self):</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self.model</a:t>
            </a:r>
            <a:r>
              <a:rPr lang="en-US" sz="1600" dirty="0">
                <a:latin typeface="Times New Roman" pitchFamily="18" charset="0"/>
                <a:cs typeface="Times New Roman" pitchFamily="18" charset="0"/>
              </a:rPr>
              <a:t> = ‘</a:t>
            </a:r>
            <a:r>
              <a:rPr lang="en-US" sz="1600" dirty="0" err="1">
                <a:latin typeface="Times New Roman" pitchFamily="18" charset="0"/>
                <a:cs typeface="Times New Roman" pitchFamily="18" charset="0"/>
              </a:rPr>
              <a:t>RealMe</a:t>
            </a:r>
            <a:r>
              <a:rPr lang="en-US" sz="1600" dirty="0">
                <a:latin typeface="Times New Roman" pitchFamily="18" charset="0"/>
                <a:cs typeface="Times New Roman" pitchFamily="18" charset="0"/>
              </a:rPr>
              <a:t> X’</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show_model</a:t>
            </a:r>
            <a:r>
              <a:rPr lang="en-US" sz="1600" dirty="0">
                <a:latin typeface="Times New Roman" pitchFamily="18" charset="0"/>
                <a:cs typeface="Times New Roman" pitchFamily="18" charset="0"/>
              </a:rPr>
              <a:t>(self):</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self.model</a:t>
            </a:r>
            <a:endParaRPr lang="en-US" sz="1600" dirty="0">
              <a:latin typeface="Times New Roman" pitchFamily="18" charset="0"/>
              <a:cs typeface="Times New Roman" pitchFamily="18" charset="0"/>
            </a:endParaRPr>
          </a:p>
          <a:p>
            <a:pPr marL="0" indent="0">
              <a:buNone/>
            </a:pPr>
            <a:endParaRPr lang="en-US" sz="1600" dirty="0">
              <a:latin typeface="Times New Roman" pitchFamily="18" charset="0"/>
              <a:cs typeface="Times New Roman" pitchFamily="18" charset="0"/>
            </a:endParaRPr>
          </a:p>
          <a:p>
            <a:pPr marL="0" indent="0">
              <a:buNone/>
            </a:pPr>
            <a:r>
              <a:rPr lang="en-US" sz="1600" dirty="0" err="1">
                <a:latin typeface="Times New Roman" pitchFamily="18" charset="0"/>
                <a:cs typeface="Times New Roman" pitchFamily="18" charset="0"/>
              </a:rPr>
              <a:t>realme</a:t>
            </a:r>
            <a:r>
              <a:rPr lang="en-US" sz="1600" dirty="0">
                <a:latin typeface="Times New Roman" pitchFamily="18" charset="0"/>
                <a:cs typeface="Times New Roman" pitchFamily="18" charset="0"/>
              </a:rPr>
              <a:t> = Mobile( )</a:t>
            </a:r>
            <a:endParaRPr lang="en-IN" sz="1600" dirty="0">
              <a:latin typeface="Times New Roman" pitchFamily="18" charset="0"/>
              <a:cs typeface="Times New Roman" pitchFamily="18" charset="0"/>
            </a:endParaRPr>
          </a:p>
          <a:p>
            <a:pPr marL="0" indent="0">
              <a:buNone/>
            </a:pPr>
            <a:r>
              <a:rPr lang="en-US" sz="1800" dirty="0" err="1">
                <a:latin typeface="Times New Roman" pitchFamily="18" charset="0"/>
                <a:cs typeface="Times New Roman" pitchFamily="18" charset="0"/>
              </a:rPr>
              <a:t>realme.model</a:t>
            </a:r>
            <a:endParaRPr lang="en-US" sz="1800" dirty="0">
              <a:latin typeface="Times New Roman" pitchFamily="18" charset="0"/>
              <a:cs typeface="Times New Roman" pitchFamily="18" charset="0"/>
            </a:endParaRPr>
          </a:p>
        </p:txBody>
      </p:sp>
      <p:sp>
        <p:nvSpPr>
          <p:cNvPr id="4" name="TextBox 3"/>
          <p:cNvSpPr txBox="1"/>
          <p:nvPr/>
        </p:nvSpPr>
        <p:spPr>
          <a:xfrm>
            <a:off x="4015751" y="1944751"/>
            <a:ext cx="1249701" cy="27699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t>Instance Variable</a:t>
            </a:r>
            <a:endParaRPr lang="en-IN" sz="1200" dirty="0"/>
          </a:p>
        </p:txBody>
      </p:sp>
      <p:cxnSp>
        <p:nvCxnSpPr>
          <p:cNvPr id="5" name="Straight Arrow Connector 4"/>
          <p:cNvCxnSpPr>
            <a:stCxn id="4" idx="1"/>
          </p:cNvCxnSpPr>
          <p:nvPr/>
        </p:nvCxnSpPr>
        <p:spPr>
          <a:xfrm flipH="1">
            <a:off x="3582790" y="2083251"/>
            <a:ext cx="432961"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3352800" y="2266949"/>
            <a:ext cx="1244636" cy="27699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t>Instance Method</a:t>
            </a:r>
            <a:endParaRPr lang="en-IN" sz="1200" dirty="0"/>
          </a:p>
        </p:txBody>
      </p:sp>
      <p:cxnSp>
        <p:nvCxnSpPr>
          <p:cNvPr id="7" name="Straight Arrow Connector 6"/>
          <p:cNvCxnSpPr>
            <a:stCxn id="6" idx="1"/>
          </p:cNvCxnSpPr>
          <p:nvPr/>
        </p:nvCxnSpPr>
        <p:spPr>
          <a:xfrm flipH="1">
            <a:off x="2743200" y="2405449"/>
            <a:ext cx="6096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748096" y="2876550"/>
            <a:ext cx="1892506" cy="27699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t>Accessing Instance Variable</a:t>
            </a:r>
            <a:endParaRPr lang="en-IN" sz="1200" dirty="0"/>
          </a:p>
        </p:txBody>
      </p:sp>
      <p:cxnSp>
        <p:nvCxnSpPr>
          <p:cNvPr id="9" name="Straight Arrow Connector 8"/>
          <p:cNvCxnSpPr>
            <a:stCxn id="8" idx="1"/>
          </p:cNvCxnSpPr>
          <p:nvPr/>
        </p:nvCxnSpPr>
        <p:spPr>
          <a:xfrm flipH="1" flipV="1">
            <a:off x="2245198" y="2800350"/>
            <a:ext cx="502898" cy="21470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239086" y="3396049"/>
            <a:ext cx="3079433" cy="27699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t>Accessing Instance Variable from outside Class</a:t>
            </a:r>
            <a:endParaRPr lang="en-IN" sz="1200" dirty="0"/>
          </a:p>
        </p:txBody>
      </p:sp>
      <p:cxnSp>
        <p:nvCxnSpPr>
          <p:cNvPr id="16" name="Straight Arrow Connector 15"/>
          <p:cNvCxnSpPr/>
          <p:nvPr/>
        </p:nvCxnSpPr>
        <p:spPr>
          <a:xfrm flipH="1">
            <a:off x="1828800" y="3534548"/>
            <a:ext cx="410286" cy="2780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5649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500"/>
                                        <p:tgtEl>
                                          <p:spTgt spid="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tgtEl>
                                          <p:spTgt spid="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fade">
                                      <p:cBhvr>
                                        <p:cTn id="63" dur="500"/>
                                        <p:tgtEl>
                                          <p:spTgt spid="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fade">
                                      <p:cBhvr>
                                        <p:cTn id="68" dur="500"/>
                                        <p:tgtEl>
                                          <p:spTgt spid="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fade">
                                      <p:cBhvr>
                                        <p:cTn id="71" dur="500"/>
                                        <p:tgtEl>
                                          <p:spTgt spid="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6"/>
                                        </p:tgtEl>
                                        <p:attrNameLst>
                                          <p:attrName>style.visibility</p:attrName>
                                        </p:attrNameLst>
                                      </p:cBhvr>
                                      <p:to>
                                        <p:strVal val="visible"/>
                                      </p:to>
                                    </p:set>
                                    <p:animEffect transition="in" filter="fade">
                                      <p:cBhvr>
                                        <p:cTn id="76" dur="500"/>
                                        <p:tgtEl>
                                          <p:spTgt spid="16"/>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fade">
                                      <p:cBhvr>
                                        <p:cTn id="7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animBg="1"/>
      <p:bldP spid="8" grpId="0" animBg="1"/>
      <p:bldP spid="10"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rot="5400000">
            <a:off x="5602188" y="2001738"/>
            <a:ext cx="3006923" cy="25527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457200" y="-19050"/>
            <a:ext cx="8229600" cy="762000"/>
          </a:xfrm>
        </p:spPr>
        <p:txBody>
          <a:bodyPr>
            <a:normAutofit/>
          </a:bodyPr>
          <a:lstStyle/>
          <a:p>
            <a:r>
              <a:rPr lang="en-US" sz="4000" b="1" u="sng" dirty="0">
                <a:latin typeface="Times New Roman" pitchFamily="18" charset="0"/>
                <a:cs typeface="Times New Roman" pitchFamily="18" charset="0"/>
              </a:rPr>
              <a:t>Instance Variable </a:t>
            </a:r>
          </a:p>
        </p:txBody>
      </p:sp>
      <p:sp>
        <p:nvSpPr>
          <p:cNvPr id="3" name="Content Placeholder 2"/>
          <p:cNvSpPr>
            <a:spLocks noGrp="1"/>
          </p:cNvSpPr>
          <p:nvPr>
            <p:ph idx="1"/>
          </p:nvPr>
        </p:nvSpPr>
        <p:spPr>
          <a:xfrm>
            <a:off x="457200" y="819150"/>
            <a:ext cx="8153400" cy="4038600"/>
          </a:xfrm>
        </p:spPr>
        <p:txBody>
          <a:bodyPr>
            <a:normAutofit/>
          </a:bodyPr>
          <a:lstStyle/>
          <a:p>
            <a:pPr marL="0" indent="0">
              <a:buNone/>
            </a:pPr>
            <a:r>
              <a:rPr lang="en-US" sz="1800" dirty="0">
                <a:latin typeface="Times New Roman" pitchFamily="18" charset="0"/>
                <a:cs typeface="Times New Roman" pitchFamily="18" charset="0"/>
              </a:rPr>
              <a:t>Instance variables are the variables whose separate copy is created in every object.</a:t>
            </a:r>
          </a:p>
          <a:p>
            <a:pPr marL="0" indent="0">
              <a:buNone/>
            </a:pPr>
            <a:r>
              <a:rPr lang="en-US" sz="1800" dirty="0">
                <a:latin typeface="Times New Roman" pitchFamily="18" charset="0"/>
                <a:cs typeface="Times New Roman" pitchFamily="18" charset="0"/>
              </a:rPr>
              <a:t>If we modify the copy of Instance variable in an instance, it will not affect all the copies in the other instance. </a:t>
            </a:r>
          </a:p>
          <a:p>
            <a:pPr marL="0" indent="0">
              <a:buNone/>
            </a:pPr>
            <a:r>
              <a:rPr lang="en-US" sz="1800" dirty="0">
                <a:latin typeface="Times New Roman" pitchFamily="18" charset="0"/>
                <a:cs typeface="Times New Roman" pitchFamily="18" charset="0"/>
              </a:rPr>
              <a:t>class Mobile</a:t>
            </a:r>
            <a:r>
              <a:rPr lang="en-US" sz="1800" b="1" dirty="0">
                <a:latin typeface="Times New Roman" pitchFamily="18" charset="0"/>
                <a:cs typeface="Times New Roman" pitchFamily="18" charset="0"/>
              </a:rPr>
              <a:t>:</a:t>
            </a:r>
          </a:p>
          <a:p>
            <a:pPr marL="0" indent="0">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def</a:t>
            </a:r>
            <a:r>
              <a:rPr lang="en-US" sz="1800" dirty="0">
                <a:latin typeface="Times New Roman" pitchFamily="18" charset="0"/>
                <a:cs typeface="Times New Roman" pitchFamily="18" charset="0"/>
              </a:rPr>
              <a:t> __</a:t>
            </a:r>
            <a:r>
              <a:rPr lang="en-US" sz="1800" dirty="0" err="1">
                <a:latin typeface="Times New Roman" pitchFamily="18" charset="0"/>
                <a:cs typeface="Times New Roman" pitchFamily="18" charset="0"/>
              </a:rPr>
              <a:t>init</a:t>
            </a:r>
            <a:r>
              <a:rPr lang="en-US" sz="1800" dirty="0">
                <a:latin typeface="Times New Roman" pitchFamily="18" charset="0"/>
                <a:cs typeface="Times New Roman" pitchFamily="18" charset="0"/>
              </a:rPr>
              <a:t>__(self)</a:t>
            </a:r>
            <a:r>
              <a:rPr lang="en-US" sz="1800" b="1" dirty="0">
                <a:latin typeface="Times New Roman" pitchFamily="18" charset="0"/>
                <a:cs typeface="Times New Roman" pitchFamily="18" charset="0"/>
              </a:rPr>
              <a:t>:</a:t>
            </a:r>
          </a:p>
          <a:p>
            <a:pPr marL="0" indent="0">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self.model</a:t>
            </a:r>
            <a:r>
              <a:rPr lang="en-US" sz="1800" dirty="0">
                <a:latin typeface="Times New Roman" pitchFamily="18" charset="0"/>
                <a:cs typeface="Times New Roman" pitchFamily="18" charset="0"/>
              </a:rPr>
              <a:t> = ‘</a:t>
            </a:r>
            <a:r>
              <a:rPr lang="en-US" sz="1800" dirty="0" err="1">
                <a:latin typeface="Times New Roman" pitchFamily="18" charset="0"/>
                <a:cs typeface="Times New Roman" pitchFamily="18" charset="0"/>
              </a:rPr>
              <a:t>RealMe</a:t>
            </a:r>
            <a:r>
              <a:rPr lang="en-US" sz="1800" dirty="0">
                <a:latin typeface="Times New Roman" pitchFamily="18" charset="0"/>
                <a:cs typeface="Times New Roman" pitchFamily="18" charset="0"/>
              </a:rPr>
              <a:t> X’</a:t>
            </a:r>
          </a:p>
          <a:p>
            <a:pPr marL="0" indent="0">
              <a:buNone/>
            </a:pP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def</a:t>
            </a:r>
            <a:r>
              <a:rPr lang="en-US" sz="1800" dirty="0">
                <a:latin typeface="Times New Roman" pitchFamily="18" charset="0"/>
                <a:cs typeface="Times New Roman" pitchFamily="18" charset="0"/>
              </a:rPr>
              <a:t> </a:t>
            </a:r>
            <a:r>
              <a:rPr lang="en-US" sz="1800" dirty="0" err="1">
                <a:latin typeface="Times New Roman" pitchFamily="18" charset="0"/>
                <a:cs typeface="Times New Roman" pitchFamily="18" charset="0"/>
              </a:rPr>
              <a:t>show_model</a:t>
            </a:r>
            <a:r>
              <a:rPr lang="en-US" sz="1800" dirty="0">
                <a:latin typeface="Times New Roman" pitchFamily="18" charset="0"/>
                <a:cs typeface="Times New Roman" pitchFamily="18" charset="0"/>
              </a:rPr>
              <a:t>(self)</a:t>
            </a:r>
            <a:r>
              <a:rPr lang="en-US" sz="1800" b="1" dirty="0">
                <a:latin typeface="Times New Roman" pitchFamily="18" charset="0"/>
                <a:cs typeface="Times New Roman" pitchFamily="18" charset="0"/>
              </a:rPr>
              <a:t>:</a:t>
            </a:r>
          </a:p>
          <a:p>
            <a:pPr marL="0" indent="0">
              <a:buNone/>
            </a:pPr>
            <a:r>
              <a:rPr lang="en-US" sz="1800" dirty="0">
                <a:latin typeface="Times New Roman" pitchFamily="18" charset="0"/>
                <a:cs typeface="Times New Roman" pitchFamily="18" charset="0"/>
              </a:rPr>
              <a:t>	print(</a:t>
            </a:r>
            <a:r>
              <a:rPr lang="en-US" sz="1800" dirty="0" err="1">
                <a:latin typeface="Times New Roman" pitchFamily="18" charset="0"/>
                <a:cs typeface="Times New Roman" pitchFamily="18" charset="0"/>
              </a:rPr>
              <a:t>self.model</a:t>
            </a:r>
            <a:r>
              <a:rPr lang="en-US" sz="1800" dirty="0">
                <a:latin typeface="Times New Roman" pitchFamily="18" charset="0"/>
                <a:cs typeface="Times New Roman" pitchFamily="18" charset="0"/>
              </a:rPr>
              <a:t>)</a:t>
            </a:r>
          </a:p>
          <a:p>
            <a:pPr marL="0" indent="0">
              <a:buNone/>
            </a:pPr>
            <a:r>
              <a:rPr lang="en-US" sz="1800" dirty="0" err="1">
                <a:latin typeface="Times New Roman" pitchFamily="18" charset="0"/>
                <a:cs typeface="Times New Roman" pitchFamily="18" charset="0"/>
              </a:rPr>
              <a:t>realme</a:t>
            </a:r>
            <a:r>
              <a:rPr lang="en-US" sz="1800" dirty="0">
                <a:latin typeface="Times New Roman" pitchFamily="18" charset="0"/>
                <a:cs typeface="Times New Roman" pitchFamily="18" charset="0"/>
              </a:rPr>
              <a:t> = Mobile( )</a:t>
            </a:r>
            <a:endParaRPr lang="en-IN" sz="1800" dirty="0">
              <a:latin typeface="Times New Roman" pitchFamily="18" charset="0"/>
              <a:cs typeface="Times New Roman" pitchFamily="18" charset="0"/>
            </a:endParaRPr>
          </a:p>
          <a:p>
            <a:pPr marL="0" indent="0">
              <a:buNone/>
            </a:pPr>
            <a:r>
              <a:rPr lang="en-US" sz="1800" dirty="0" err="1">
                <a:latin typeface="Times New Roman" pitchFamily="18" charset="0"/>
                <a:cs typeface="Times New Roman" pitchFamily="18" charset="0"/>
              </a:rPr>
              <a:t>redmi</a:t>
            </a:r>
            <a:r>
              <a:rPr lang="en-US" sz="1800" dirty="0">
                <a:latin typeface="Times New Roman" pitchFamily="18" charset="0"/>
                <a:cs typeface="Times New Roman" pitchFamily="18" charset="0"/>
              </a:rPr>
              <a:t> = Mobile( )</a:t>
            </a:r>
          </a:p>
          <a:p>
            <a:pPr marL="0" indent="0">
              <a:buNone/>
            </a:pPr>
            <a:r>
              <a:rPr lang="en-US" sz="1800" dirty="0">
                <a:latin typeface="Times New Roman" pitchFamily="18" charset="0"/>
                <a:cs typeface="Times New Roman" pitchFamily="18" charset="0"/>
              </a:rPr>
              <a:t>geek = Mobile( )</a:t>
            </a:r>
            <a:endParaRPr lang="en-IN" sz="1800" dirty="0">
              <a:latin typeface="Times New Roman" pitchFamily="18" charset="0"/>
              <a:cs typeface="Times New Roman" pitchFamily="18" charset="0"/>
            </a:endParaRPr>
          </a:p>
        </p:txBody>
      </p:sp>
      <p:sp>
        <p:nvSpPr>
          <p:cNvPr id="4" name="TextBox 3"/>
          <p:cNvSpPr txBox="1"/>
          <p:nvPr/>
        </p:nvSpPr>
        <p:spPr>
          <a:xfrm>
            <a:off x="3886200" y="2131947"/>
            <a:ext cx="1249701" cy="276999"/>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200" dirty="0"/>
              <a:t>Instance Variable</a:t>
            </a:r>
            <a:endParaRPr lang="en-IN" sz="1200" dirty="0"/>
          </a:p>
        </p:txBody>
      </p:sp>
      <p:cxnSp>
        <p:nvCxnSpPr>
          <p:cNvPr id="6" name="Straight Arrow Connector 5"/>
          <p:cNvCxnSpPr>
            <a:stCxn id="4" idx="1"/>
          </p:cNvCxnSpPr>
          <p:nvPr/>
        </p:nvCxnSpPr>
        <p:spPr>
          <a:xfrm flipH="1">
            <a:off x="3581400" y="2270447"/>
            <a:ext cx="304800" cy="138499"/>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Rectangle 8"/>
          <p:cNvSpPr/>
          <p:nvPr/>
        </p:nvSpPr>
        <p:spPr>
          <a:xfrm>
            <a:off x="6096000" y="4022526"/>
            <a:ext cx="1981200" cy="419100"/>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err="1">
                <a:latin typeface="Times New Roman" pitchFamily="18" charset="0"/>
                <a:cs typeface="Times New Roman" pitchFamily="18" charset="0"/>
              </a:rPr>
              <a:t>self.model</a:t>
            </a:r>
            <a:r>
              <a:rPr lang="en-US" sz="1400" dirty="0">
                <a:latin typeface="Times New Roman" pitchFamily="18" charset="0"/>
                <a:cs typeface="Times New Roman" pitchFamily="18" charset="0"/>
              </a:rPr>
              <a:t> = ‘</a:t>
            </a:r>
            <a:r>
              <a:rPr lang="en-US" sz="1400" dirty="0" err="1">
                <a:latin typeface="Times New Roman" pitchFamily="18" charset="0"/>
                <a:cs typeface="Times New Roman" pitchFamily="18" charset="0"/>
              </a:rPr>
              <a:t>RealMe</a:t>
            </a:r>
            <a:r>
              <a:rPr lang="en-US" sz="1400" dirty="0">
                <a:latin typeface="Times New Roman" pitchFamily="18" charset="0"/>
                <a:cs typeface="Times New Roman" pitchFamily="18" charset="0"/>
              </a:rPr>
              <a:t> X’</a:t>
            </a:r>
            <a:endParaRPr lang="en-IN" sz="1400" dirty="0"/>
          </a:p>
        </p:txBody>
      </p:sp>
      <p:sp>
        <p:nvSpPr>
          <p:cNvPr id="10" name="TextBox 9"/>
          <p:cNvSpPr txBox="1"/>
          <p:nvPr/>
        </p:nvSpPr>
        <p:spPr>
          <a:xfrm>
            <a:off x="6781800" y="2384226"/>
            <a:ext cx="673582" cy="307777"/>
          </a:xfrm>
          <a:prstGeom prst="rect">
            <a:avLst/>
          </a:prstGeom>
          <a:noFill/>
        </p:spPr>
        <p:txBody>
          <a:bodyPr wrap="none" rtlCol="0">
            <a:spAutoFit/>
          </a:bodyPr>
          <a:lstStyle/>
          <a:p>
            <a:r>
              <a:rPr lang="en-US" sz="1400" dirty="0" err="1">
                <a:latin typeface="Times New Roman" pitchFamily="18" charset="0"/>
                <a:cs typeface="Times New Roman" pitchFamily="18" charset="0"/>
              </a:rPr>
              <a:t>realme</a:t>
            </a:r>
            <a:endParaRPr lang="en-IN" sz="1400" dirty="0">
              <a:latin typeface="Times New Roman" pitchFamily="18" charset="0"/>
              <a:cs typeface="Times New Roman" pitchFamily="18" charset="0"/>
            </a:endParaRPr>
          </a:p>
        </p:txBody>
      </p:sp>
      <p:sp>
        <p:nvSpPr>
          <p:cNvPr id="11" name="TextBox 10"/>
          <p:cNvSpPr txBox="1"/>
          <p:nvPr/>
        </p:nvSpPr>
        <p:spPr>
          <a:xfrm>
            <a:off x="6805027" y="3374826"/>
            <a:ext cx="603050" cy="307777"/>
          </a:xfrm>
          <a:prstGeom prst="rect">
            <a:avLst/>
          </a:prstGeom>
          <a:noFill/>
        </p:spPr>
        <p:txBody>
          <a:bodyPr wrap="none" rtlCol="0">
            <a:spAutoFit/>
          </a:bodyPr>
          <a:lstStyle/>
          <a:p>
            <a:r>
              <a:rPr lang="en-US" sz="1400" dirty="0" err="1">
                <a:latin typeface="Times New Roman" pitchFamily="18" charset="0"/>
                <a:cs typeface="Times New Roman" pitchFamily="18" charset="0"/>
              </a:rPr>
              <a:t>redmi</a:t>
            </a:r>
            <a:endParaRPr lang="en-IN" sz="1400" dirty="0">
              <a:latin typeface="Times New Roman" pitchFamily="18" charset="0"/>
              <a:cs typeface="Times New Roman" pitchFamily="18" charset="0"/>
            </a:endParaRPr>
          </a:p>
        </p:txBody>
      </p:sp>
      <p:sp>
        <p:nvSpPr>
          <p:cNvPr id="12" name="TextBox 11"/>
          <p:cNvSpPr txBox="1"/>
          <p:nvPr/>
        </p:nvSpPr>
        <p:spPr>
          <a:xfrm>
            <a:off x="6805027" y="4365426"/>
            <a:ext cx="583814" cy="307777"/>
          </a:xfrm>
          <a:prstGeom prst="rect">
            <a:avLst/>
          </a:prstGeom>
          <a:noFill/>
        </p:spPr>
        <p:txBody>
          <a:bodyPr wrap="none" rtlCol="0">
            <a:spAutoFit/>
          </a:bodyPr>
          <a:lstStyle/>
          <a:p>
            <a:r>
              <a:rPr lang="en-US" sz="1400" dirty="0">
                <a:latin typeface="Times New Roman" pitchFamily="18" charset="0"/>
                <a:cs typeface="Times New Roman" pitchFamily="18" charset="0"/>
              </a:rPr>
              <a:t>demo</a:t>
            </a:r>
            <a:endParaRPr lang="en-IN" sz="1400" dirty="0">
              <a:latin typeface="Times New Roman" pitchFamily="18" charset="0"/>
              <a:cs typeface="Times New Roman" pitchFamily="18" charset="0"/>
            </a:endParaRPr>
          </a:p>
        </p:txBody>
      </p:sp>
      <p:sp>
        <p:nvSpPr>
          <p:cNvPr id="14" name="TextBox 13"/>
          <p:cNvSpPr txBox="1"/>
          <p:nvPr/>
        </p:nvSpPr>
        <p:spPr>
          <a:xfrm>
            <a:off x="6472489" y="1501973"/>
            <a:ext cx="1228221" cy="307777"/>
          </a:xfrm>
          <a:prstGeom prst="rect">
            <a:avLst/>
          </a:prstGeom>
          <a:noFill/>
        </p:spPr>
        <p:txBody>
          <a:bodyPr wrap="none" rtlCol="0">
            <a:spAutoFit/>
          </a:bodyPr>
          <a:lstStyle/>
          <a:p>
            <a:r>
              <a:rPr lang="en-US" sz="1400" dirty="0">
                <a:latin typeface="Times New Roman" pitchFamily="18" charset="0"/>
                <a:cs typeface="Times New Roman" pitchFamily="18" charset="0"/>
              </a:rPr>
              <a:t>Heap Memory</a:t>
            </a:r>
            <a:endParaRPr lang="en-IN" sz="1400" dirty="0">
              <a:latin typeface="Times New Roman" pitchFamily="18" charset="0"/>
              <a:cs typeface="Times New Roman" pitchFamily="18" charset="0"/>
            </a:endParaRPr>
          </a:p>
        </p:txBody>
      </p:sp>
      <p:sp>
        <p:nvSpPr>
          <p:cNvPr id="15" name="Rectangle 14"/>
          <p:cNvSpPr/>
          <p:nvPr/>
        </p:nvSpPr>
        <p:spPr>
          <a:xfrm>
            <a:off x="6126515" y="2993826"/>
            <a:ext cx="1981200" cy="419100"/>
          </a:xfrm>
          <a:prstGeom prst="rect">
            <a:avLst/>
          </a:prstGeom>
        </p:spPr>
        <p:style>
          <a:lnRef idx="1">
            <a:schemeClr val="accent5"/>
          </a:lnRef>
          <a:fillRef idx="2">
            <a:schemeClr val="accent5"/>
          </a:fillRef>
          <a:effectRef idx="1">
            <a:schemeClr val="accent5"/>
          </a:effectRef>
          <a:fontRef idx="minor">
            <a:schemeClr val="dk1"/>
          </a:fontRef>
        </p:style>
        <p:txBody>
          <a:bodyPr rtlCol="0" anchor="ctr"/>
          <a:lstStyle/>
          <a:p>
            <a:pPr algn="ctr"/>
            <a:r>
              <a:rPr lang="en-US" sz="1400" dirty="0" err="1">
                <a:latin typeface="Times New Roman" pitchFamily="18" charset="0"/>
                <a:cs typeface="Times New Roman" pitchFamily="18" charset="0"/>
              </a:rPr>
              <a:t>self.model</a:t>
            </a:r>
            <a:r>
              <a:rPr lang="en-US" sz="1400" dirty="0">
                <a:latin typeface="Times New Roman" pitchFamily="18" charset="0"/>
                <a:cs typeface="Times New Roman" pitchFamily="18" charset="0"/>
              </a:rPr>
              <a:t> = ‘</a:t>
            </a:r>
            <a:r>
              <a:rPr lang="en-US" sz="1400" dirty="0" err="1">
                <a:latin typeface="Times New Roman" pitchFamily="18" charset="0"/>
                <a:cs typeface="Times New Roman" pitchFamily="18" charset="0"/>
              </a:rPr>
              <a:t>RealMe</a:t>
            </a:r>
            <a:r>
              <a:rPr lang="en-US" sz="1400" dirty="0">
                <a:latin typeface="Times New Roman" pitchFamily="18" charset="0"/>
                <a:cs typeface="Times New Roman" pitchFamily="18" charset="0"/>
              </a:rPr>
              <a:t> X’</a:t>
            </a:r>
            <a:endParaRPr lang="en-IN" sz="1400" dirty="0"/>
          </a:p>
        </p:txBody>
      </p:sp>
      <p:sp>
        <p:nvSpPr>
          <p:cNvPr id="16" name="Rectangle 15"/>
          <p:cNvSpPr/>
          <p:nvPr/>
        </p:nvSpPr>
        <p:spPr>
          <a:xfrm>
            <a:off x="6115049" y="2003226"/>
            <a:ext cx="1981200" cy="419100"/>
          </a:xfrm>
          <a:prstGeom prst="rect">
            <a:avLst/>
          </a:prstGeom>
        </p:spPr>
        <p:style>
          <a:lnRef idx="1">
            <a:schemeClr val="accent6"/>
          </a:lnRef>
          <a:fillRef idx="2">
            <a:schemeClr val="accent6"/>
          </a:fillRef>
          <a:effectRef idx="1">
            <a:schemeClr val="accent6"/>
          </a:effectRef>
          <a:fontRef idx="minor">
            <a:schemeClr val="dk1"/>
          </a:fontRef>
        </p:style>
        <p:txBody>
          <a:bodyPr rtlCol="0" anchor="ctr"/>
          <a:lstStyle/>
          <a:p>
            <a:pPr algn="ctr"/>
            <a:r>
              <a:rPr lang="en-US" sz="1400" dirty="0" err="1">
                <a:latin typeface="Times New Roman" pitchFamily="18" charset="0"/>
                <a:cs typeface="Times New Roman" pitchFamily="18" charset="0"/>
              </a:rPr>
              <a:t>self.model</a:t>
            </a:r>
            <a:r>
              <a:rPr lang="en-US" sz="1400" dirty="0">
                <a:latin typeface="Times New Roman" pitchFamily="18" charset="0"/>
                <a:cs typeface="Times New Roman" pitchFamily="18" charset="0"/>
              </a:rPr>
              <a:t> = ‘</a:t>
            </a:r>
            <a:r>
              <a:rPr lang="en-US" sz="1400" dirty="0" err="1">
                <a:latin typeface="Times New Roman" pitchFamily="18" charset="0"/>
                <a:cs typeface="Times New Roman" pitchFamily="18" charset="0"/>
              </a:rPr>
              <a:t>RealMe</a:t>
            </a:r>
            <a:r>
              <a:rPr lang="en-US" sz="1400" dirty="0">
                <a:latin typeface="Times New Roman" pitchFamily="18" charset="0"/>
                <a:cs typeface="Times New Roman" pitchFamily="18" charset="0"/>
              </a:rPr>
              <a:t> X’</a:t>
            </a:r>
            <a:endParaRPr lang="en-IN" sz="1400" dirty="0"/>
          </a:p>
        </p:txBody>
      </p:sp>
    </p:spTree>
    <p:extLst>
      <p:ext uri="{BB962C8B-B14F-4D97-AF65-F5344CB8AC3E}">
        <p14:creationId xmlns:p14="http://schemas.microsoft.com/office/powerpoint/2010/main" val="29750457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6"/>
                                        </p:tgtEl>
                                        <p:attrNameLst>
                                          <p:attrName>style.visibility</p:attrName>
                                        </p:attrNameLst>
                                      </p:cBhvr>
                                      <p:to>
                                        <p:strVal val="visible"/>
                                      </p:to>
                                    </p:set>
                                    <p:animEffect transition="in" filter="fade">
                                      <p:cBhvr>
                                        <p:cTn id="57" dur="500"/>
                                        <p:tgtEl>
                                          <p:spTgt spid="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fade">
                                      <p:cBhvr>
                                        <p:cTn id="60" dur="500"/>
                                        <p:tgtEl>
                                          <p:spTgt spid="4"/>
                                        </p:tgtEl>
                                      </p:cBhvr>
                                    </p:animEffect>
                                  </p:childTnLst>
                                </p:cTn>
                              </p:par>
                            </p:childTnLst>
                          </p:cTn>
                        </p:par>
                      </p:childTnLst>
                    </p:cTn>
                  </p:par>
                  <p:par>
                    <p:cTn id="61" fill="hold">
                      <p:stCondLst>
                        <p:cond delay="indefinite"/>
                      </p:stCondLst>
                      <p:childTnLst>
                        <p:par>
                          <p:cTn id="62" fill="hold">
                            <p:stCondLst>
                              <p:cond delay="0"/>
                            </p:stCondLst>
                            <p:childTnLst>
                              <p:par>
                                <p:cTn id="63" presetID="16" presetClass="entr" presetSubtype="21" fill="hold" grpId="0" nodeType="clickEffect">
                                  <p:stCondLst>
                                    <p:cond delay="0"/>
                                  </p:stCondLst>
                                  <p:childTnLst>
                                    <p:set>
                                      <p:cBhvr>
                                        <p:cTn id="64" dur="1" fill="hold">
                                          <p:stCondLst>
                                            <p:cond delay="0"/>
                                          </p:stCondLst>
                                        </p:cTn>
                                        <p:tgtEl>
                                          <p:spTgt spid="13"/>
                                        </p:tgtEl>
                                        <p:attrNameLst>
                                          <p:attrName>style.visibility</p:attrName>
                                        </p:attrNameLst>
                                      </p:cBhvr>
                                      <p:to>
                                        <p:strVal val="visible"/>
                                      </p:to>
                                    </p:set>
                                    <p:animEffect transition="in" filter="barn(inVertical)">
                                      <p:cBhvr>
                                        <p:cTn id="65" dur="500"/>
                                        <p:tgtEl>
                                          <p:spTgt spid="13"/>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grpId="0"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fade">
                                      <p:cBhvr>
                                        <p:cTn id="70" dur="500"/>
                                        <p:tgtEl>
                                          <p:spTgt spid="1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10"/>
                                        </p:tgtEl>
                                        <p:attrNameLst>
                                          <p:attrName>style.visibility</p:attrName>
                                        </p:attrNameLst>
                                      </p:cBhvr>
                                      <p:to>
                                        <p:strVal val="visible"/>
                                      </p:to>
                                    </p:set>
                                    <p:animEffect transition="in" filter="fade">
                                      <p:cBhvr>
                                        <p:cTn id="75" dur="500"/>
                                        <p:tgtEl>
                                          <p:spTgt spid="10"/>
                                        </p:tgtEl>
                                      </p:cBhvr>
                                    </p:animEffect>
                                  </p:childTnLst>
                                </p:cTn>
                              </p:par>
                            </p:childTnLst>
                          </p:cTn>
                        </p:par>
                      </p:childTnLst>
                    </p:cTn>
                  </p:par>
                  <p:par>
                    <p:cTn id="76" fill="hold">
                      <p:stCondLst>
                        <p:cond delay="indefinite"/>
                      </p:stCondLst>
                      <p:childTnLst>
                        <p:par>
                          <p:cTn id="77" fill="hold">
                            <p:stCondLst>
                              <p:cond delay="0"/>
                            </p:stCondLst>
                            <p:childTnLst>
                              <p:par>
                                <p:cTn id="78" presetID="10" presetClass="entr" presetSubtype="0" fill="hold" grpId="0" nodeType="click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fade">
                                      <p:cBhvr>
                                        <p:cTn id="80" dur="500"/>
                                        <p:tgtEl>
                                          <p:spTgt spid="16"/>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11"/>
                                        </p:tgtEl>
                                        <p:attrNameLst>
                                          <p:attrName>style.visibility</p:attrName>
                                        </p:attrNameLst>
                                      </p:cBhvr>
                                      <p:to>
                                        <p:strVal val="visible"/>
                                      </p:to>
                                    </p:set>
                                    <p:animEffect transition="in" filter="fade">
                                      <p:cBhvr>
                                        <p:cTn id="85" dur="500"/>
                                        <p:tgtEl>
                                          <p:spTgt spid="11"/>
                                        </p:tgtEl>
                                      </p:cBhvr>
                                    </p:animEffect>
                                  </p:childTnLst>
                                </p:cTn>
                              </p:par>
                            </p:childTnLst>
                          </p:cTn>
                        </p:par>
                      </p:childTnLst>
                    </p:cTn>
                  </p:par>
                  <p:par>
                    <p:cTn id="86" fill="hold">
                      <p:stCondLst>
                        <p:cond delay="indefinite"/>
                      </p:stCondLst>
                      <p:childTnLst>
                        <p:par>
                          <p:cTn id="87" fill="hold">
                            <p:stCondLst>
                              <p:cond delay="0"/>
                            </p:stCondLst>
                            <p:childTnLst>
                              <p:par>
                                <p:cTn id="88" presetID="10" presetClass="entr" presetSubtype="0" fill="hold" grpId="0" nodeType="clickEffect">
                                  <p:stCondLst>
                                    <p:cond delay="0"/>
                                  </p:stCondLst>
                                  <p:childTnLst>
                                    <p:set>
                                      <p:cBhvr>
                                        <p:cTn id="89" dur="1" fill="hold">
                                          <p:stCondLst>
                                            <p:cond delay="0"/>
                                          </p:stCondLst>
                                        </p:cTn>
                                        <p:tgtEl>
                                          <p:spTgt spid="15"/>
                                        </p:tgtEl>
                                        <p:attrNameLst>
                                          <p:attrName>style.visibility</p:attrName>
                                        </p:attrNameLst>
                                      </p:cBhvr>
                                      <p:to>
                                        <p:strVal val="visible"/>
                                      </p:to>
                                    </p:set>
                                    <p:animEffect transition="in" filter="fade">
                                      <p:cBhvr>
                                        <p:cTn id="90" dur="500"/>
                                        <p:tgtEl>
                                          <p:spTgt spid="15"/>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grpId="0" nodeType="clickEffect">
                                  <p:stCondLst>
                                    <p:cond delay="0"/>
                                  </p:stCondLst>
                                  <p:childTnLst>
                                    <p:set>
                                      <p:cBhvr>
                                        <p:cTn id="94" dur="1" fill="hold">
                                          <p:stCondLst>
                                            <p:cond delay="0"/>
                                          </p:stCondLst>
                                        </p:cTn>
                                        <p:tgtEl>
                                          <p:spTgt spid="12"/>
                                        </p:tgtEl>
                                        <p:attrNameLst>
                                          <p:attrName>style.visibility</p:attrName>
                                        </p:attrNameLst>
                                      </p:cBhvr>
                                      <p:to>
                                        <p:strVal val="visible"/>
                                      </p:to>
                                    </p:set>
                                    <p:animEffect transition="in" filter="fade">
                                      <p:cBhvr>
                                        <p:cTn id="95" dur="500"/>
                                        <p:tgtEl>
                                          <p:spTgt spid="12"/>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grpId="0" nodeType="clickEffect">
                                  <p:stCondLst>
                                    <p:cond delay="0"/>
                                  </p:stCondLst>
                                  <p:childTnLst>
                                    <p:set>
                                      <p:cBhvr>
                                        <p:cTn id="99" dur="1" fill="hold">
                                          <p:stCondLst>
                                            <p:cond delay="0"/>
                                          </p:stCondLst>
                                        </p:cTn>
                                        <p:tgtEl>
                                          <p:spTgt spid="9"/>
                                        </p:tgtEl>
                                        <p:attrNameLst>
                                          <p:attrName>style.visibility</p:attrName>
                                        </p:attrNameLst>
                                      </p:cBhvr>
                                      <p:to>
                                        <p:strVal val="visible"/>
                                      </p:to>
                                    </p:set>
                                    <p:animEffect transition="in" filter="fade">
                                      <p:cBhvr>
                                        <p:cTn id="10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 grpId="0" build="p"/>
      <p:bldP spid="4" grpId="0" animBg="1"/>
      <p:bldP spid="9" grpId="0" animBg="1"/>
      <p:bldP spid="10" grpId="0"/>
      <p:bldP spid="11" grpId="0"/>
      <p:bldP spid="12" grpId="0"/>
      <p:bldP spid="14" grpId="0"/>
      <p:bldP spid="15" grpId="0" animBg="1"/>
      <p:bldP spid="1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Class Variable / Static Variable</a:t>
            </a:r>
            <a:endParaRPr lang="en-IN" sz="4000" b="1" u="sng" dirty="0">
              <a:latin typeface="Times New Roman" pitchFamily="18" charset="0"/>
              <a:cs typeface="Times New Roman" pitchFamily="18" charset="0"/>
            </a:endParaRPr>
          </a:p>
        </p:txBody>
      </p:sp>
      <p:sp>
        <p:nvSpPr>
          <p:cNvPr id="3" name="Content Placeholder 2"/>
          <p:cNvSpPr>
            <a:spLocks noGrp="1"/>
          </p:cNvSpPr>
          <p:nvPr>
            <p:ph idx="1"/>
          </p:nvPr>
        </p:nvSpPr>
        <p:spPr>
          <a:xfrm>
            <a:off x="457200" y="971550"/>
            <a:ext cx="8229600" cy="3886200"/>
          </a:xfrm>
        </p:spPr>
        <p:txBody>
          <a:bodyPr>
            <a:normAutofit/>
          </a:bodyPr>
          <a:lstStyle/>
          <a:p>
            <a:pPr marL="0" indent="0">
              <a:buNone/>
            </a:pPr>
            <a:r>
              <a:rPr lang="en-US" sz="1600" dirty="0">
                <a:latin typeface="Times New Roman" pitchFamily="18" charset="0"/>
                <a:cs typeface="Times New Roman" pitchFamily="18" charset="0"/>
              </a:rPr>
              <a:t>Class variables are the variables whose single copy is available to all the instance of the class. </a:t>
            </a:r>
          </a:p>
          <a:p>
            <a:pPr marL="0" indent="0">
              <a:buNone/>
            </a:pPr>
            <a:r>
              <a:rPr lang="en-US" sz="1600" dirty="0">
                <a:latin typeface="Times New Roman" pitchFamily="18" charset="0"/>
                <a:cs typeface="Times New Roman" pitchFamily="18" charset="0"/>
              </a:rPr>
              <a:t>If we modify the copy of class variable in an instance, it will affect all the copies in the other instance. </a:t>
            </a:r>
          </a:p>
          <a:p>
            <a:pPr marL="0" indent="0">
              <a:buNone/>
            </a:pPr>
            <a:r>
              <a:rPr lang="en-US" sz="1600" dirty="0">
                <a:latin typeface="Times New Roman" pitchFamily="18" charset="0"/>
                <a:cs typeface="Times New Roman" pitchFamily="18" charset="0"/>
              </a:rPr>
              <a:t>Ex:- </a:t>
            </a:r>
          </a:p>
          <a:p>
            <a:pPr marL="0" indent="0">
              <a:buNone/>
            </a:pPr>
            <a:r>
              <a:rPr lang="en-US" sz="1600" dirty="0">
                <a:latin typeface="Times New Roman" pitchFamily="18" charset="0"/>
                <a:cs typeface="Times New Roman" pitchFamily="18" charset="0"/>
              </a:rPr>
              <a:t>class Mobile</a:t>
            </a:r>
            <a:r>
              <a:rPr lang="en-US" sz="1600" b="1" dirty="0">
                <a:latin typeface="Times New Roman" pitchFamily="18" charset="0"/>
                <a:cs typeface="Times New Roman" pitchFamily="18" charset="0"/>
              </a:rPr>
              <a:t>:</a:t>
            </a:r>
          </a:p>
          <a:p>
            <a:pPr marL="0" indent="0">
              <a:buNone/>
            </a:pPr>
            <a:r>
              <a:rPr lang="en-US" sz="1600" b="1" dirty="0">
                <a:latin typeface="Times New Roman" pitchFamily="18" charset="0"/>
                <a:cs typeface="Times New Roman" pitchFamily="18" charset="0"/>
              </a:rPr>
              <a:t>     </a:t>
            </a:r>
            <a:r>
              <a:rPr lang="en-US" sz="1600" dirty="0" err="1">
                <a:latin typeface="Times New Roman" pitchFamily="18" charset="0"/>
                <a:cs typeface="Times New Roman" pitchFamily="18" charset="0"/>
              </a:rPr>
              <a:t>fp</a:t>
            </a:r>
            <a:r>
              <a:rPr lang="en-US" sz="1600" dirty="0">
                <a:latin typeface="Times New Roman" pitchFamily="18" charset="0"/>
                <a:cs typeface="Times New Roman" pitchFamily="18" charset="0"/>
              </a:rPr>
              <a:t> = ‘Yes’</a:t>
            </a:r>
            <a:endParaRPr lang="en-US" sz="1600" b="1"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__</a:t>
            </a:r>
            <a:r>
              <a:rPr lang="en-US" sz="1600" dirty="0" err="1">
                <a:latin typeface="Times New Roman" pitchFamily="18" charset="0"/>
                <a:cs typeface="Times New Roman" pitchFamily="18" charset="0"/>
              </a:rPr>
              <a:t>init</a:t>
            </a:r>
            <a:r>
              <a:rPr lang="en-US" sz="1600" dirty="0">
                <a:latin typeface="Times New Roman" pitchFamily="18" charset="0"/>
                <a:cs typeface="Times New Roman" pitchFamily="18" charset="0"/>
              </a:rPr>
              <a:t>__(self):</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self.model</a:t>
            </a:r>
            <a:r>
              <a:rPr lang="en-US" sz="1600" dirty="0">
                <a:latin typeface="Times New Roman" pitchFamily="18" charset="0"/>
                <a:cs typeface="Times New Roman" pitchFamily="18" charset="0"/>
              </a:rPr>
              <a:t> = ‘</a:t>
            </a:r>
            <a:r>
              <a:rPr lang="en-US" sz="1600" dirty="0" err="1">
                <a:latin typeface="Times New Roman" pitchFamily="18" charset="0"/>
                <a:cs typeface="Times New Roman" pitchFamily="18" charset="0"/>
              </a:rPr>
              <a:t>RealMe</a:t>
            </a:r>
            <a:r>
              <a:rPr lang="en-US" sz="1600" dirty="0">
                <a:latin typeface="Times New Roman" pitchFamily="18" charset="0"/>
                <a:cs typeface="Times New Roman" pitchFamily="18" charset="0"/>
              </a:rPr>
              <a:t> X’</a:t>
            </a:r>
          </a:p>
          <a:p>
            <a:pPr marL="0" indent="0">
              <a:buNone/>
            </a:pPr>
            <a:endParaRPr lang="en-US" sz="1600"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show_model</a:t>
            </a:r>
            <a:r>
              <a:rPr lang="en-US" sz="1600" dirty="0">
                <a:latin typeface="Times New Roman" pitchFamily="18" charset="0"/>
                <a:cs typeface="Times New Roman" pitchFamily="18" charset="0"/>
              </a:rPr>
              <a:t>(self):</a:t>
            </a:r>
          </a:p>
          <a:p>
            <a:pPr marL="0" indent="0">
              <a:buNone/>
            </a:pPr>
            <a:r>
              <a:rPr lang="en-US" sz="1600" dirty="0">
                <a:latin typeface="Times New Roman" pitchFamily="18" charset="0"/>
                <a:cs typeface="Times New Roman" pitchFamily="18" charset="0"/>
              </a:rPr>
              <a:t>          print(</a:t>
            </a:r>
            <a:r>
              <a:rPr lang="en-US" sz="1600" dirty="0" err="1">
                <a:latin typeface="Times New Roman" pitchFamily="18" charset="0"/>
                <a:cs typeface="Times New Roman" pitchFamily="18" charset="0"/>
              </a:rPr>
              <a:t>self.model</a:t>
            </a:r>
            <a:r>
              <a:rPr lang="en-US" sz="1600" dirty="0">
                <a:latin typeface="Times New Roman" pitchFamily="18" charset="0"/>
                <a:cs typeface="Times New Roman" pitchFamily="18" charset="0"/>
              </a:rPr>
              <a:t>)</a:t>
            </a:r>
          </a:p>
          <a:p>
            <a:pPr marL="0" indent="0">
              <a:buNone/>
            </a:pPr>
            <a:endParaRPr lang="en-US" sz="1600" dirty="0">
              <a:latin typeface="Times New Roman" pitchFamily="18" charset="0"/>
              <a:cs typeface="Times New Roman" pitchFamily="18" charset="0"/>
            </a:endParaRPr>
          </a:p>
          <a:p>
            <a:pPr marL="0" indent="0">
              <a:buNone/>
            </a:pPr>
            <a:r>
              <a:rPr lang="en-US" sz="1600" dirty="0" err="1">
                <a:latin typeface="Times New Roman" pitchFamily="18" charset="0"/>
                <a:cs typeface="Times New Roman" pitchFamily="18" charset="0"/>
              </a:rPr>
              <a:t>realme</a:t>
            </a:r>
            <a:r>
              <a:rPr lang="en-US" sz="1600" dirty="0">
                <a:latin typeface="Times New Roman" pitchFamily="18" charset="0"/>
                <a:cs typeface="Times New Roman" pitchFamily="18" charset="0"/>
              </a:rPr>
              <a:t> = Mobile( )</a:t>
            </a:r>
            <a:endParaRPr lang="en-IN" sz="1600" dirty="0">
              <a:latin typeface="Times New Roman" pitchFamily="18" charset="0"/>
              <a:cs typeface="Times New Roman" pitchFamily="18" charset="0"/>
            </a:endParaRPr>
          </a:p>
        </p:txBody>
      </p:sp>
      <p:sp>
        <p:nvSpPr>
          <p:cNvPr id="4" name="TextBox 3"/>
          <p:cNvSpPr txBox="1"/>
          <p:nvPr/>
        </p:nvSpPr>
        <p:spPr>
          <a:xfrm>
            <a:off x="2895600" y="2331246"/>
            <a:ext cx="1186159" cy="30777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400" dirty="0"/>
              <a:t>Class Variable</a:t>
            </a:r>
            <a:endParaRPr lang="en-IN" sz="1400" dirty="0"/>
          </a:p>
        </p:txBody>
      </p:sp>
      <p:cxnSp>
        <p:nvCxnSpPr>
          <p:cNvPr id="5" name="Straight Arrow Connector 4"/>
          <p:cNvCxnSpPr>
            <a:stCxn id="4" idx="1"/>
          </p:cNvCxnSpPr>
          <p:nvPr/>
        </p:nvCxnSpPr>
        <p:spPr>
          <a:xfrm flipH="1">
            <a:off x="1981200" y="2485135"/>
            <a:ext cx="914400" cy="64007"/>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02630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11" end="11"/>
                                            </p:txEl>
                                          </p:spTgt>
                                        </p:tgtEl>
                                        <p:attrNameLst>
                                          <p:attrName>style.visibility</p:attrName>
                                        </p:attrNameLst>
                                      </p:cBhvr>
                                      <p:to>
                                        <p:strVal val="visible"/>
                                      </p:to>
                                    </p:set>
                                    <p:animEffect transition="in" filter="fade">
                                      <p:cBhvr>
                                        <p:cTn id="52" dur="500"/>
                                        <p:tgtEl>
                                          <p:spTgt spid="3">
                                            <p:txEl>
                                              <p:pRg st="11" end="11"/>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nodeType="clickEffect">
                                  <p:stCondLst>
                                    <p:cond delay="0"/>
                                  </p:stCondLst>
                                  <p:childTnLst>
                                    <p:set>
                                      <p:cBhvr>
                                        <p:cTn id="56" dur="1" fill="hold">
                                          <p:stCondLst>
                                            <p:cond delay="0"/>
                                          </p:stCondLst>
                                        </p:cTn>
                                        <p:tgtEl>
                                          <p:spTgt spid="5"/>
                                        </p:tgtEl>
                                        <p:attrNameLst>
                                          <p:attrName>style.visibility</p:attrName>
                                        </p:attrNameLst>
                                      </p:cBhvr>
                                      <p:to>
                                        <p:strVal val="visible"/>
                                      </p:to>
                                    </p:set>
                                    <p:animEffect transition="in" filter="fade">
                                      <p:cBhvr>
                                        <p:cTn id="57" dur="500"/>
                                        <p:tgtEl>
                                          <p:spTgt spid="5"/>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fade">
                                      <p:cBhvr>
                                        <p:cTn id="6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
            <a:ext cx="8229600" cy="762000"/>
          </a:xfrm>
        </p:spPr>
        <p:txBody>
          <a:bodyPr>
            <a:normAutofit/>
          </a:bodyPr>
          <a:lstStyle/>
          <a:p>
            <a:r>
              <a:rPr lang="en-US" sz="3600" b="1" u="sng" dirty="0">
                <a:latin typeface="Times New Roman" pitchFamily="18" charset="0"/>
                <a:cs typeface="Times New Roman" pitchFamily="18" charset="0"/>
              </a:rPr>
              <a:t>Accessing Class/Static Variable </a:t>
            </a:r>
          </a:p>
        </p:txBody>
      </p:sp>
      <p:sp>
        <p:nvSpPr>
          <p:cNvPr id="3" name="Content Placeholder 2"/>
          <p:cNvSpPr>
            <a:spLocks noGrp="1"/>
          </p:cNvSpPr>
          <p:nvPr>
            <p:ph idx="1"/>
          </p:nvPr>
        </p:nvSpPr>
        <p:spPr>
          <a:xfrm>
            <a:off x="457200" y="742950"/>
            <a:ext cx="8229600" cy="4191000"/>
          </a:xfrm>
        </p:spPr>
        <p:txBody>
          <a:bodyPr>
            <a:normAutofit/>
          </a:bodyPr>
          <a:lstStyle/>
          <a:p>
            <a:pPr marL="0" indent="0">
              <a:buNone/>
            </a:pPr>
            <a:r>
              <a:rPr lang="en-US" sz="1800" b="1" u="sng" dirty="0">
                <a:latin typeface="Times New Roman" pitchFamily="18" charset="0"/>
                <a:cs typeface="Times New Roman" pitchFamily="18" charset="0"/>
              </a:rPr>
              <a:t>With Class Method</a:t>
            </a:r>
          </a:p>
          <a:p>
            <a:pPr marL="0" indent="0">
              <a:buNone/>
            </a:pPr>
            <a:r>
              <a:rPr lang="en-US" sz="1600" dirty="0">
                <a:latin typeface="Times New Roman" pitchFamily="18" charset="0"/>
                <a:cs typeface="Times New Roman" pitchFamily="18" charset="0"/>
              </a:rPr>
              <a:t>To access class variable, we need class methods with </a:t>
            </a:r>
            <a:r>
              <a:rPr lang="en-US" sz="1600" dirty="0" err="1">
                <a:latin typeface="Times New Roman" pitchFamily="18" charset="0"/>
                <a:cs typeface="Times New Roman" pitchFamily="18" charset="0"/>
              </a:rPr>
              <a:t>cls</a:t>
            </a:r>
            <a:r>
              <a:rPr lang="en-US" sz="1600" dirty="0">
                <a:latin typeface="Times New Roman" pitchFamily="18" charset="0"/>
                <a:cs typeface="Times New Roman" pitchFamily="18" charset="0"/>
              </a:rPr>
              <a:t> as first parameter then we can access class variable using </a:t>
            </a:r>
            <a:r>
              <a:rPr lang="en-US" sz="1600" dirty="0" err="1">
                <a:latin typeface="Times New Roman" pitchFamily="18" charset="0"/>
                <a:cs typeface="Times New Roman" pitchFamily="18" charset="0"/>
              </a:rPr>
              <a:t>cls.variable_name</a:t>
            </a:r>
            <a:endParaRPr lang="en-US" sz="1600"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class Mobile</a:t>
            </a:r>
            <a:r>
              <a:rPr lang="en-US" sz="1600" b="1" dirty="0">
                <a:latin typeface="Times New Roman" pitchFamily="18" charset="0"/>
                <a:cs typeface="Times New Roman" pitchFamily="18" charset="0"/>
              </a:rPr>
              <a:t>:</a:t>
            </a:r>
          </a:p>
          <a:p>
            <a:pPr marL="0" indent="0">
              <a:buNone/>
            </a:pPr>
            <a:r>
              <a:rPr lang="en-US" sz="1600" b="1" dirty="0">
                <a:latin typeface="Times New Roman" pitchFamily="18" charset="0"/>
                <a:cs typeface="Times New Roman" pitchFamily="18" charset="0"/>
              </a:rPr>
              <a:t>     </a:t>
            </a:r>
            <a:r>
              <a:rPr lang="en-US" sz="1600" dirty="0" err="1">
                <a:latin typeface="Times New Roman" pitchFamily="18" charset="0"/>
                <a:cs typeface="Times New Roman" pitchFamily="18" charset="0"/>
              </a:rPr>
              <a:t>fp</a:t>
            </a:r>
            <a:r>
              <a:rPr lang="en-US" sz="1600" dirty="0">
                <a:latin typeface="Times New Roman" pitchFamily="18" charset="0"/>
                <a:cs typeface="Times New Roman" pitchFamily="18" charset="0"/>
              </a:rPr>
              <a:t> = ‘Yes’</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__</a:t>
            </a:r>
            <a:r>
              <a:rPr lang="en-US" sz="1600" dirty="0" err="1">
                <a:latin typeface="Times New Roman" pitchFamily="18" charset="0"/>
                <a:cs typeface="Times New Roman" pitchFamily="18" charset="0"/>
              </a:rPr>
              <a:t>init</a:t>
            </a:r>
            <a:r>
              <a:rPr lang="en-US" sz="1600" dirty="0">
                <a:latin typeface="Times New Roman" pitchFamily="18" charset="0"/>
                <a:cs typeface="Times New Roman" pitchFamily="18" charset="0"/>
              </a:rPr>
              <a:t>__(self):</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self.model</a:t>
            </a:r>
            <a:r>
              <a:rPr lang="en-US" sz="1600" dirty="0">
                <a:latin typeface="Times New Roman" pitchFamily="18" charset="0"/>
                <a:cs typeface="Times New Roman" pitchFamily="18" charset="0"/>
              </a:rPr>
              <a:t> = ‘</a:t>
            </a:r>
            <a:r>
              <a:rPr lang="en-US" sz="1600" dirty="0" err="1">
                <a:latin typeface="Times New Roman" pitchFamily="18" charset="0"/>
                <a:cs typeface="Times New Roman" pitchFamily="18" charset="0"/>
              </a:rPr>
              <a:t>RealMe</a:t>
            </a:r>
            <a:r>
              <a:rPr lang="en-US" sz="1600" dirty="0">
                <a:latin typeface="Times New Roman" pitchFamily="18" charset="0"/>
                <a:cs typeface="Times New Roman" pitchFamily="18" charset="0"/>
              </a:rPr>
              <a:t> X’</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show_model</a:t>
            </a:r>
            <a:r>
              <a:rPr lang="en-US" sz="1600" dirty="0">
                <a:latin typeface="Times New Roman" pitchFamily="18" charset="0"/>
                <a:cs typeface="Times New Roman" pitchFamily="18" charset="0"/>
              </a:rPr>
              <a:t>(self):</a:t>
            </a:r>
          </a:p>
          <a:p>
            <a:pPr marL="0" indent="0">
              <a:buNone/>
            </a:pPr>
            <a:r>
              <a:rPr lang="en-US" sz="1600" dirty="0">
                <a:latin typeface="Times New Roman" pitchFamily="18" charset="0"/>
                <a:cs typeface="Times New Roman" pitchFamily="18" charset="0"/>
              </a:rPr>
              <a:t>          print(</a:t>
            </a:r>
            <a:r>
              <a:rPr lang="en-US" sz="1600" dirty="0" err="1">
                <a:latin typeface="Times New Roman" pitchFamily="18" charset="0"/>
                <a:cs typeface="Times New Roman" pitchFamily="18" charset="0"/>
              </a:rPr>
              <a:t>self.model</a:t>
            </a:r>
            <a:r>
              <a:rPr lang="en-US" sz="1600" dirty="0">
                <a:latin typeface="Times New Roman" pitchFamily="18" charset="0"/>
                <a:cs typeface="Times New Roman" pitchFamily="18" charset="0"/>
              </a:rPr>
              <a:t>)</a:t>
            </a:r>
          </a:p>
          <a:p>
            <a:pPr marL="0" indent="0">
              <a:buNone/>
            </a:pPr>
            <a:r>
              <a:rPr lang="en-US" sz="1600" b="1" dirty="0">
                <a:latin typeface="Times New Roman" pitchFamily="18" charset="0"/>
                <a:cs typeface="Times New Roman" pitchFamily="18" charset="0"/>
              </a:rPr>
              <a:t>     </a:t>
            </a:r>
            <a:r>
              <a:rPr lang="en-US" sz="1600" dirty="0">
                <a:cs typeface="Times New Roman" pitchFamily="18" charset="0"/>
              </a:rPr>
              <a:t>@</a:t>
            </a:r>
            <a:r>
              <a:rPr lang="en-US" sz="1600" dirty="0" err="1">
                <a:cs typeface="Times New Roman" pitchFamily="18" charset="0"/>
              </a:rPr>
              <a:t>classmethod</a:t>
            </a:r>
            <a:endParaRPr lang="en-US" sz="1600" dirty="0">
              <a:cs typeface="Times New Roman" pitchFamily="18" charset="0"/>
            </a:endParaRP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is_fp</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cls</a:t>
            </a:r>
            <a:r>
              <a:rPr lang="en-US" sz="1600" dirty="0">
                <a:latin typeface="Times New Roman" pitchFamily="18" charset="0"/>
                <a:cs typeface="Times New Roman" pitchFamily="18" charset="0"/>
              </a:rPr>
              <a:t>):</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cls.fp</a:t>
            </a:r>
            <a:endParaRPr lang="en-US" sz="1600" dirty="0">
              <a:latin typeface="Times New Roman" pitchFamily="18" charset="0"/>
              <a:cs typeface="Times New Roman" pitchFamily="18" charset="0"/>
            </a:endParaRPr>
          </a:p>
          <a:p>
            <a:pPr marL="0" indent="0">
              <a:buNone/>
            </a:pPr>
            <a:endParaRPr lang="en-US" sz="1600" dirty="0">
              <a:latin typeface="Times New Roman" pitchFamily="18" charset="0"/>
              <a:cs typeface="Times New Roman" pitchFamily="18" charset="0"/>
            </a:endParaRPr>
          </a:p>
          <a:p>
            <a:pPr marL="0" indent="0">
              <a:buNone/>
            </a:pPr>
            <a:r>
              <a:rPr lang="en-US" sz="1600" dirty="0" err="1">
                <a:latin typeface="Times New Roman" pitchFamily="18" charset="0"/>
                <a:cs typeface="Times New Roman" pitchFamily="18" charset="0"/>
              </a:rPr>
              <a:t>realme</a:t>
            </a:r>
            <a:r>
              <a:rPr lang="en-US" sz="1600" dirty="0">
                <a:latin typeface="Times New Roman" pitchFamily="18" charset="0"/>
                <a:cs typeface="Times New Roman" pitchFamily="18" charset="0"/>
              </a:rPr>
              <a:t> = Mobile( )</a:t>
            </a:r>
            <a:endParaRPr lang="en-IN" sz="1600" dirty="0">
              <a:latin typeface="Times New Roman" pitchFamily="18" charset="0"/>
              <a:cs typeface="Times New Roman" pitchFamily="18" charset="0"/>
            </a:endParaRPr>
          </a:p>
        </p:txBody>
      </p:sp>
      <p:sp>
        <p:nvSpPr>
          <p:cNvPr id="4" name="TextBox 3"/>
          <p:cNvSpPr txBox="1"/>
          <p:nvPr/>
        </p:nvSpPr>
        <p:spPr>
          <a:xfrm>
            <a:off x="2895600" y="1892834"/>
            <a:ext cx="1186159" cy="30777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400" dirty="0"/>
              <a:t>Class Variable</a:t>
            </a:r>
            <a:endParaRPr lang="en-IN" sz="1400" dirty="0"/>
          </a:p>
        </p:txBody>
      </p:sp>
      <p:cxnSp>
        <p:nvCxnSpPr>
          <p:cNvPr id="5" name="Straight Arrow Connector 4"/>
          <p:cNvCxnSpPr>
            <a:stCxn id="4" idx="1"/>
          </p:cNvCxnSpPr>
          <p:nvPr/>
        </p:nvCxnSpPr>
        <p:spPr>
          <a:xfrm flipH="1">
            <a:off x="2057400" y="2046723"/>
            <a:ext cx="838200" cy="0"/>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829587" y="3339704"/>
            <a:ext cx="1177566" cy="30777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400" dirty="0"/>
              <a:t>Class Method</a:t>
            </a:r>
            <a:endParaRPr lang="en-IN" sz="1400" dirty="0"/>
          </a:p>
        </p:txBody>
      </p:sp>
      <p:cxnSp>
        <p:nvCxnSpPr>
          <p:cNvPr id="7" name="Straight Arrow Connector 6"/>
          <p:cNvCxnSpPr/>
          <p:nvPr/>
        </p:nvCxnSpPr>
        <p:spPr>
          <a:xfrm flipH="1">
            <a:off x="2296187" y="3515533"/>
            <a:ext cx="521175" cy="131948"/>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2667594" y="4016109"/>
            <a:ext cx="3439018" cy="30777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400" dirty="0"/>
              <a:t>Accessing Class Variable inside Class Method</a:t>
            </a:r>
            <a:endParaRPr lang="en-IN" sz="1400" dirty="0"/>
          </a:p>
        </p:txBody>
      </p:sp>
      <p:cxnSp>
        <p:nvCxnSpPr>
          <p:cNvPr id="10" name="Straight Arrow Connector 9"/>
          <p:cNvCxnSpPr>
            <a:stCxn id="9" idx="1"/>
          </p:cNvCxnSpPr>
          <p:nvPr/>
        </p:nvCxnSpPr>
        <p:spPr>
          <a:xfrm flipH="1">
            <a:off x="2063512" y="4169998"/>
            <a:ext cx="604082" cy="1074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84238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0" presetClass="entr" presetSubtype="0" fill="hold" grpId="0" nodeType="clickEffect">
                                  <p:stCondLst>
                                    <p:cond delay="0"/>
                                  </p:stCondLst>
                                  <p:childTnLst>
                                    <p:set>
                                      <p:cBhvr>
                                        <p:cTn id="56" dur="1" fill="hold">
                                          <p:stCondLst>
                                            <p:cond delay="0"/>
                                          </p:stCondLst>
                                        </p:cTn>
                                        <p:tgtEl>
                                          <p:spTgt spid="3">
                                            <p:txEl>
                                              <p:pRg st="10" end="10"/>
                                            </p:txEl>
                                          </p:spTgt>
                                        </p:tgtEl>
                                        <p:attrNameLst>
                                          <p:attrName>style.visibility</p:attrName>
                                        </p:attrNameLst>
                                      </p:cBhvr>
                                      <p:to>
                                        <p:strVal val="visible"/>
                                      </p:to>
                                    </p:set>
                                    <p:animEffect transition="in" filter="fade">
                                      <p:cBhvr>
                                        <p:cTn id="57" dur="500"/>
                                        <p:tgtEl>
                                          <p:spTgt spid="3">
                                            <p:txEl>
                                              <p:pRg st="10" end="10"/>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3">
                                            <p:txEl>
                                              <p:pRg st="12" end="12"/>
                                            </p:txEl>
                                          </p:spTgt>
                                        </p:tgtEl>
                                        <p:attrNameLst>
                                          <p:attrName>style.visibility</p:attrName>
                                        </p:attrNameLst>
                                      </p:cBhvr>
                                      <p:to>
                                        <p:strVal val="visible"/>
                                      </p:to>
                                    </p:set>
                                    <p:animEffect transition="in" filter="fade">
                                      <p:cBhvr>
                                        <p:cTn id="62" dur="500"/>
                                        <p:tgtEl>
                                          <p:spTgt spid="3">
                                            <p:txEl>
                                              <p:pRg st="12" end="12"/>
                                            </p:txEl>
                                          </p:spTgt>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5"/>
                                        </p:tgtEl>
                                        <p:attrNameLst>
                                          <p:attrName>style.visibility</p:attrName>
                                        </p:attrNameLst>
                                      </p:cBhvr>
                                      <p:to>
                                        <p:strVal val="visible"/>
                                      </p:to>
                                    </p:set>
                                    <p:animEffect transition="in" filter="fade">
                                      <p:cBhvr>
                                        <p:cTn id="67" dur="500"/>
                                        <p:tgtEl>
                                          <p:spTgt spid="5"/>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4"/>
                                        </p:tgtEl>
                                        <p:attrNameLst>
                                          <p:attrName>style.visibility</p:attrName>
                                        </p:attrNameLst>
                                      </p:cBhvr>
                                      <p:to>
                                        <p:strVal val="visible"/>
                                      </p:to>
                                    </p:set>
                                    <p:animEffect transition="in" filter="fade">
                                      <p:cBhvr>
                                        <p:cTn id="70" dur="500"/>
                                        <p:tgtEl>
                                          <p:spTgt spid="4"/>
                                        </p:tgtEl>
                                      </p:cBhvr>
                                    </p:animEffect>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nodeType="clickEffect">
                                  <p:stCondLst>
                                    <p:cond delay="0"/>
                                  </p:stCondLst>
                                  <p:childTnLst>
                                    <p:set>
                                      <p:cBhvr>
                                        <p:cTn id="74" dur="1" fill="hold">
                                          <p:stCondLst>
                                            <p:cond delay="0"/>
                                          </p:stCondLst>
                                        </p:cTn>
                                        <p:tgtEl>
                                          <p:spTgt spid="7"/>
                                        </p:tgtEl>
                                        <p:attrNameLst>
                                          <p:attrName>style.visibility</p:attrName>
                                        </p:attrNameLst>
                                      </p:cBhvr>
                                      <p:to>
                                        <p:strVal val="visible"/>
                                      </p:to>
                                    </p:set>
                                    <p:animEffect transition="in" filter="fade">
                                      <p:cBhvr>
                                        <p:cTn id="75" dur="500"/>
                                        <p:tgtEl>
                                          <p:spTgt spid="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6"/>
                                        </p:tgtEl>
                                        <p:attrNameLst>
                                          <p:attrName>style.visibility</p:attrName>
                                        </p:attrNameLst>
                                      </p:cBhvr>
                                      <p:to>
                                        <p:strVal val="visible"/>
                                      </p:to>
                                    </p:set>
                                    <p:animEffect transition="in" filter="fade">
                                      <p:cBhvr>
                                        <p:cTn id="78" dur="500"/>
                                        <p:tgtEl>
                                          <p:spTgt spid="6"/>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0"/>
                                        </p:tgtEl>
                                        <p:attrNameLst>
                                          <p:attrName>style.visibility</p:attrName>
                                        </p:attrNameLst>
                                      </p:cBhvr>
                                      <p:to>
                                        <p:strVal val="visible"/>
                                      </p:to>
                                    </p:set>
                                    <p:animEffect transition="in" filter="fade">
                                      <p:cBhvr>
                                        <p:cTn id="83" dur="500"/>
                                        <p:tgtEl>
                                          <p:spTgt spid="10"/>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9"/>
                                        </p:tgtEl>
                                        <p:attrNameLst>
                                          <p:attrName>style.visibility</p:attrName>
                                        </p:attrNameLst>
                                      </p:cBhvr>
                                      <p:to>
                                        <p:strVal val="visible"/>
                                      </p:to>
                                    </p:set>
                                    <p:animEffect transition="in" filter="fade">
                                      <p:cBhvr>
                                        <p:cTn id="86"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animBg="1"/>
      <p:bldP spid="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9050"/>
            <a:ext cx="8229600" cy="762000"/>
          </a:xfrm>
        </p:spPr>
        <p:txBody>
          <a:bodyPr>
            <a:normAutofit/>
          </a:bodyPr>
          <a:lstStyle/>
          <a:p>
            <a:r>
              <a:rPr lang="en-US" sz="3600" b="1" u="sng" dirty="0">
                <a:latin typeface="Times New Roman" pitchFamily="18" charset="0"/>
                <a:cs typeface="Times New Roman" pitchFamily="18" charset="0"/>
              </a:rPr>
              <a:t>Accessing Class/Static Variable</a:t>
            </a:r>
          </a:p>
        </p:txBody>
      </p:sp>
      <p:sp>
        <p:nvSpPr>
          <p:cNvPr id="3" name="Content Placeholder 2"/>
          <p:cNvSpPr>
            <a:spLocks noGrp="1"/>
          </p:cNvSpPr>
          <p:nvPr>
            <p:ph idx="1"/>
          </p:nvPr>
        </p:nvSpPr>
        <p:spPr>
          <a:xfrm>
            <a:off x="457200" y="742950"/>
            <a:ext cx="8229600" cy="4191000"/>
          </a:xfrm>
        </p:spPr>
        <p:txBody>
          <a:bodyPr>
            <a:normAutofit/>
          </a:bodyPr>
          <a:lstStyle/>
          <a:p>
            <a:pPr marL="0" indent="0">
              <a:buNone/>
            </a:pPr>
            <a:r>
              <a:rPr lang="en-US" sz="1800" b="1" u="sng" dirty="0">
                <a:latin typeface="Times New Roman" pitchFamily="18" charset="0"/>
                <a:cs typeface="Times New Roman" pitchFamily="18" charset="0"/>
              </a:rPr>
              <a:t>Outside Class</a:t>
            </a:r>
          </a:p>
          <a:p>
            <a:pPr marL="0" indent="0">
              <a:buNone/>
            </a:pPr>
            <a:r>
              <a:rPr lang="en-US" sz="1600" dirty="0">
                <a:latin typeface="Times New Roman" pitchFamily="18" charset="0"/>
                <a:cs typeface="Times New Roman" pitchFamily="18" charset="0"/>
              </a:rPr>
              <a:t>We can access class variable using </a:t>
            </a:r>
            <a:r>
              <a:rPr lang="en-US" sz="1600" dirty="0" err="1">
                <a:latin typeface="Times New Roman" pitchFamily="18" charset="0"/>
                <a:cs typeface="Times New Roman" pitchFamily="18" charset="0"/>
              </a:rPr>
              <a:t>Classname.variable_name</a:t>
            </a:r>
            <a:endParaRPr lang="en-US" sz="1600" dirty="0">
              <a:latin typeface="Times New Roman" pitchFamily="18" charset="0"/>
              <a:cs typeface="Times New Roman" pitchFamily="18" charset="0"/>
            </a:endParaRPr>
          </a:p>
          <a:p>
            <a:pPr marL="0" indent="0">
              <a:buNone/>
            </a:pPr>
            <a:r>
              <a:rPr lang="en-US" sz="1600" dirty="0">
                <a:latin typeface="Times New Roman" pitchFamily="18" charset="0"/>
                <a:cs typeface="Times New Roman" pitchFamily="18" charset="0"/>
              </a:rPr>
              <a:t>class Mobile</a:t>
            </a:r>
            <a:r>
              <a:rPr lang="en-US" sz="1600" b="1" dirty="0">
                <a:latin typeface="Times New Roman" pitchFamily="18" charset="0"/>
                <a:cs typeface="Times New Roman" pitchFamily="18" charset="0"/>
              </a:rPr>
              <a:t>:</a:t>
            </a:r>
          </a:p>
          <a:p>
            <a:pPr marL="0" indent="0">
              <a:buNone/>
            </a:pPr>
            <a:r>
              <a:rPr lang="en-US" sz="1600" b="1" dirty="0">
                <a:latin typeface="Times New Roman" pitchFamily="18" charset="0"/>
                <a:cs typeface="Times New Roman" pitchFamily="18" charset="0"/>
              </a:rPr>
              <a:t>     </a:t>
            </a:r>
            <a:r>
              <a:rPr lang="en-US" sz="1600" dirty="0" err="1">
                <a:latin typeface="Times New Roman" pitchFamily="18" charset="0"/>
                <a:cs typeface="Times New Roman" pitchFamily="18" charset="0"/>
              </a:rPr>
              <a:t>fp</a:t>
            </a:r>
            <a:r>
              <a:rPr lang="en-US" sz="1600" dirty="0">
                <a:latin typeface="Times New Roman" pitchFamily="18" charset="0"/>
                <a:cs typeface="Times New Roman" pitchFamily="18" charset="0"/>
              </a:rPr>
              <a:t> = ‘Yes’</a:t>
            </a:r>
          </a:p>
          <a:p>
            <a:pPr marL="0" indent="0">
              <a:buNone/>
            </a:pPr>
            <a:endParaRPr lang="en-US" sz="1600" dirty="0">
              <a:latin typeface="Times New Roman" pitchFamily="18" charset="0"/>
              <a:cs typeface="Times New Roman" pitchFamily="18" charset="0"/>
            </a:endParaRPr>
          </a:p>
          <a:p>
            <a:pPr marL="0" indent="0">
              <a:buNone/>
            </a:pPr>
            <a:r>
              <a:rPr lang="en-US" sz="1600" b="1" dirty="0">
                <a:latin typeface="Times New Roman" pitchFamily="18" charset="0"/>
                <a:cs typeface="Times New Roman" pitchFamily="18" charset="0"/>
              </a:rPr>
              <a:t>     </a:t>
            </a:r>
            <a:r>
              <a:rPr lang="en-US" sz="1600" dirty="0">
                <a:cs typeface="Times New Roman" pitchFamily="18" charset="0"/>
              </a:rPr>
              <a:t>@</a:t>
            </a:r>
            <a:r>
              <a:rPr lang="en-US" sz="1600" dirty="0" err="1">
                <a:cs typeface="Times New Roman" pitchFamily="18" charset="0"/>
              </a:rPr>
              <a:t>classmethod</a:t>
            </a:r>
            <a:endParaRPr lang="en-US" sz="1600" dirty="0">
              <a:cs typeface="Times New Roman" pitchFamily="18" charset="0"/>
            </a:endParaRP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show(</a:t>
            </a:r>
            <a:r>
              <a:rPr lang="en-US" sz="1600" dirty="0" err="1">
                <a:latin typeface="Times New Roman" pitchFamily="18" charset="0"/>
                <a:cs typeface="Times New Roman" pitchFamily="18" charset="0"/>
              </a:rPr>
              <a:t>cls</a:t>
            </a:r>
            <a:r>
              <a:rPr lang="en-US" sz="1600" dirty="0">
                <a:latin typeface="Times New Roman" pitchFamily="18" charset="0"/>
                <a:cs typeface="Times New Roman" pitchFamily="18" charset="0"/>
              </a:rPr>
              <a:t>):</a:t>
            </a: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cls.fp</a:t>
            </a:r>
            <a:endParaRPr lang="en-US" sz="1600" dirty="0">
              <a:latin typeface="Times New Roman" pitchFamily="18" charset="0"/>
              <a:cs typeface="Times New Roman" pitchFamily="18" charset="0"/>
            </a:endParaRPr>
          </a:p>
          <a:p>
            <a:pPr marL="0" indent="0">
              <a:buNone/>
            </a:pPr>
            <a:endParaRPr lang="en-US" sz="1600" dirty="0">
              <a:latin typeface="Times New Roman" pitchFamily="18" charset="0"/>
              <a:cs typeface="Times New Roman" pitchFamily="18" charset="0"/>
            </a:endParaRPr>
          </a:p>
          <a:p>
            <a:pPr marL="0" indent="0">
              <a:buNone/>
            </a:pPr>
            <a:r>
              <a:rPr lang="en-US" sz="1600" dirty="0" err="1">
                <a:latin typeface="Times New Roman" pitchFamily="18" charset="0"/>
                <a:cs typeface="Times New Roman" pitchFamily="18" charset="0"/>
              </a:rPr>
              <a:t>realme</a:t>
            </a:r>
            <a:r>
              <a:rPr lang="en-US" sz="1600" dirty="0">
                <a:latin typeface="Times New Roman" pitchFamily="18" charset="0"/>
                <a:cs typeface="Times New Roman" pitchFamily="18" charset="0"/>
              </a:rPr>
              <a:t> = Mobile( )</a:t>
            </a:r>
          </a:p>
          <a:p>
            <a:pPr marL="0" indent="0">
              <a:buNone/>
            </a:pPr>
            <a:endParaRPr lang="en-IN" sz="1600" dirty="0">
              <a:latin typeface="Times New Roman" pitchFamily="18" charset="0"/>
              <a:cs typeface="Times New Roman" pitchFamily="18" charset="0"/>
            </a:endParaRPr>
          </a:p>
          <a:p>
            <a:pPr marL="0" indent="0">
              <a:buNone/>
            </a:pPr>
            <a:r>
              <a:rPr lang="en-US" sz="1600" dirty="0" err="1">
                <a:latin typeface="Times New Roman" pitchFamily="18" charset="0"/>
                <a:cs typeface="Times New Roman" pitchFamily="18" charset="0"/>
              </a:rPr>
              <a:t>Mobile.fp</a:t>
            </a:r>
            <a:endParaRPr lang="en-US" sz="1600" dirty="0">
              <a:latin typeface="Times New Roman" pitchFamily="18" charset="0"/>
              <a:cs typeface="Times New Roman" pitchFamily="18" charset="0"/>
            </a:endParaRPr>
          </a:p>
          <a:p>
            <a:pPr marL="0" indent="0">
              <a:buNone/>
            </a:pPr>
            <a:endParaRPr lang="en-IN" sz="1800" dirty="0">
              <a:latin typeface="Times New Roman" pitchFamily="18" charset="0"/>
              <a:cs typeface="Times New Roman" pitchFamily="18" charset="0"/>
            </a:endParaRPr>
          </a:p>
        </p:txBody>
      </p:sp>
      <p:sp>
        <p:nvSpPr>
          <p:cNvPr id="4" name="TextBox 3"/>
          <p:cNvSpPr txBox="1"/>
          <p:nvPr/>
        </p:nvSpPr>
        <p:spPr>
          <a:xfrm>
            <a:off x="2895600" y="1680813"/>
            <a:ext cx="1186159" cy="30777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400" dirty="0"/>
              <a:t>Class Variable</a:t>
            </a:r>
            <a:endParaRPr lang="en-IN" sz="1400" dirty="0"/>
          </a:p>
        </p:txBody>
      </p:sp>
      <p:cxnSp>
        <p:nvCxnSpPr>
          <p:cNvPr id="5" name="Straight Arrow Connector 4"/>
          <p:cNvCxnSpPr/>
          <p:nvPr/>
        </p:nvCxnSpPr>
        <p:spPr>
          <a:xfrm flipH="1">
            <a:off x="2057400" y="1797778"/>
            <a:ext cx="838200" cy="36923"/>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2743200" y="2280518"/>
            <a:ext cx="1177566" cy="30777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400" dirty="0"/>
              <a:t>Class Method</a:t>
            </a:r>
            <a:endParaRPr lang="en-IN" sz="1400" dirty="0"/>
          </a:p>
        </p:txBody>
      </p:sp>
      <p:cxnSp>
        <p:nvCxnSpPr>
          <p:cNvPr id="7" name="Straight Arrow Connector 6"/>
          <p:cNvCxnSpPr/>
          <p:nvPr/>
        </p:nvCxnSpPr>
        <p:spPr>
          <a:xfrm flipH="1">
            <a:off x="2146953" y="2456347"/>
            <a:ext cx="584022" cy="65532"/>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2626650" y="2876550"/>
            <a:ext cx="3439018" cy="30777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400" dirty="0"/>
              <a:t>Accessing Class Variable inside Class Method</a:t>
            </a:r>
            <a:endParaRPr lang="en-IN" sz="1400" dirty="0"/>
          </a:p>
        </p:txBody>
      </p:sp>
      <p:cxnSp>
        <p:nvCxnSpPr>
          <p:cNvPr id="9" name="Straight Arrow Connector 8"/>
          <p:cNvCxnSpPr>
            <a:stCxn id="8" idx="1"/>
          </p:cNvCxnSpPr>
          <p:nvPr/>
        </p:nvCxnSpPr>
        <p:spPr>
          <a:xfrm flipH="1">
            <a:off x="2022568" y="3030439"/>
            <a:ext cx="604082" cy="1074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2438964" y="4019550"/>
            <a:ext cx="2904578" cy="307777"/>
          </a:xfrm>
          <a:prstGeom prst="rect">
            <a:avLst/>
          </a:prstGeom>
        </p:spPr>
        <p:style>
          <a:lnRef idx="2">
            <a:schemeClr val="accent1"/>
          </a:lnRef>
          <a:fillRef idx="1">
            <a:schemeClr val="lt1"/>
          </a:fillRef>
          <a:effectRef idx="0">
            <a:schemeClr val="accent1"/>
          </a:effectRef>
          <a:fontRef idx="minor">
            <a:schemeClr val="dk1"/>
          </a:fontRef>
        </p:style>
        <p:txBody>
          <a:bodyPr wrap="none" rtlCol="0">
            <a:spAutoFit/>
          </a:bodyPr>
          <a:lstStyle/>
          <a:p>
            <a:r>
              <a:rPr lang="en-US" sz="1400" dirty="0"/>
              <a:t>Accessing Class Variable outside class</a:t>
            </a:r>
            <a:endParaRPr lang="en-IN" sz="1400" dirty="0"/>
          </a:p>
        </p:txBody>
      </p:sp>
      <p:cxnSp>
        <p:nvCxnSpPr>
          <p:cNvPr id="11" name="Straight Arrow Connector 10"/>
          <p:cNvCxnSpPr>
            <a:stCxn id="10" idx="1"/>
          </p:cNvCxnSpPr>
          <p:nvPr/>
        </p:nvCxnSpPr>
        <p:spPr>
          <a:xfrm flipH="1">
            <a:off x="1834882" y="4173439"/>
            <a:ext cx="604082" cy="10744"/>
          </a:xfrm>
          <a:prstGeom prst="straightConnector1">
            <a:avLst/>
          </a:prstGeom>
          <a:ln>
            <a:tailEnd type="arrow"/>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51106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fade">
                                      <p:cBhvr>
                                        <p:cTn id="42" dur="500"/>
                                        <p:tgtEl>
                                          <p:spTgt spid="3">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animEffect transition="in" filter="fade">
                                      <p:cBhvr>
                                        <p:cTn id="47" dur="500"/>
                                        <p:tgtEl>
                                          <p:spTgt spid="3">
                                            <p:txEl>
                                              <p:pRg st="11" end="11"/>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nodeType="click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fade">
                                      <p:cBhvr>
                                        <p:cTn id="52" dur="500"/>
                                        <p:tgtEl>
                                          <p:spTgt spid="5"/>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4"/>
                                        </p:tgtEl>
                                        <p:attrNameLst>
                                          <p:attrName>style.visibility</p:attrName>
                                        </p:attrNameLst>
                                      </p:cBhvr>
                                      <p:to>
                                        <p:strVal val="visible"/>
                                      </p:to>
                                    </p:set>
                                    <p:animEffect transition="in" filter="fade">
                                      <p:cBhvr>
                                        <p:cTn id="55" dur="500"/>
                                        <p:tgtEl>
                                          <p:spTgt spid="4"/>
                                        </p:tgtEl>
                                      </p:cBhvr>
                                    </p:animEffect>
                                  </p:childTnLst>
                                </p:cTn>
                              </p:par>
                            </p:childTnLst>
                          </p:cTn>
                        </p:par>
                      </p:childTnLst>
                    </p:cTn>
                  </p:par>
                  <p:par>
                    <p:cTn id="56" fill="hold">
                      <p:stCondLst>
                        <p:cond delay="indefinite"/>
                      </p:stCondLst>
                      <p:childTnLst>
                        <p:par>
                          <p:cTn id="57" fill="hold">
                            <p:stCondLst>
                              <p:cond delay="0"/>
                            </p:stCondLst>
                            <p:childTnLst>
                              <p:par>
                                <p:cTn id="58" presetID="10" presetClass="entr" presetSubtype="0" fill="hold" nodeType="clickEffect">
                                  <p:stCondLst>
                                    <p:cond delay="0"/>
                                  </p:stCondLst>
                                  <p:childTnLst>
                                    <p:set>
                                      <p:cBhvr>
                                        <p:cTn id="59" dur="1" fill="hold">
                                          <p:stCondLst>
                                            <p:cond delay="0"/>
                                          </p:stCondLst>
                                        </p:cTn>
                                        <p:tgtEl>
                                          <p:spTgt spid="7"/>
                                        </p:tgtEl>
                                        <p:attrNameLst>
                                          <p:attrName>style.visibility</p:attrName>
                                        </p:attrNameLst>
                                      </p:cBhvr>
                                      <p:to>
                                        <p:strVal val="visible"/>
                                      </p:to>
                                    </p:set>
                                    <p:animEffect transition="in" filter="fade">
                                      <p:cBhvr>
                                        <p:cTn id="60" dur="500"/>
                                        <p:tgtEl>
                                          <p:spTgt spid="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6"/>
                                        </p:tgtEl>
                                        <p:attrNameLst>
                                          <p:attrName>style.visibility</p:attrName>
                                        </p:attrNameLst>
                                      </p:cBhvr>
                                      <p:to>
                                        <p:strVal val="visible"/>
                                      </p:to>
                                    </p:set>
                                    <p:animEffect transition="in" filter="fade">
                                      <p:cBhvr>
                                        <p:cTn id="63" dur="500"/>
                                        <p:tgtEl>
                                          <p:spTgt spid="6"/>
                                        </p:tgtEl>
                                      </p:cBhvr>
                                    </p:animEffect>
                                  </p:childTnLst>
                                </p:cTn>
                              </p:par>
                            </p:childTnLst>
                          </p:cTn>
                        </p:par>
                      </p:childTnLst>
                    </p:cTn>
                  </p:par>
                  <p:par>
                    <p:cTn id="64" fill="hold">
                      <p:stCondLst>
                        <p:cond delay="indefinite"/>
                      </p:stCondLst>
                      <p:childTnLst>
                        <p:par>
                          <p:cTn id="65" fill="hold">
                            <p:stCondLst>
                              <p:cond delay="0"/>
                            </p:stCondLst>
                            <p:childTnLst>
                              <p:par>
                                <p:cTn id="66" presetID="10" presetClass="entr" presetSubtype="0" fill="hold" nodeType="clickEffect">
                                  <p:stCondLst>
                                    <p:cond delay="0"/>
                                  </p:stCondLst>
                                  <p:childTnLst>
                                    <p:set>
                                      <p:cBhvr>
                                        <p:cTn id="67" dur="1" fill="hold">
                                          <p:stCondLst>
                                            <p:cond delay="0"/>
                                          </p:stCondLst>
                                        </p:cTn>
                                        <p:tgtEl>
                                          <p:spTgt spid="9"/>
                                        </p:tgtEl>
                                        <p:attrNameLst>
                                          <p:attrName>style.visibility</p:attrName>
                                        </p:attrNameLst>
                                      </p:cBhvr>
                                      <p:to>
                                        <p:strVal val="visible"/>
                                      </p:to>
                                    </p:set>
                                    <p:animEffect transition="in" filter="fade">
                                      <p:cBhvr>
                                        <p:cTn id="68" dur="500"/>
                                        <p:tgtEl>
                                          <p:spTgt spid="9"/>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8"/>
                                        </p:tgtEl>
                                        <p:attrNameLst>
                                          <p:attrName>style.visibility</p:attrName>
                                        </p:attrNameLst>
                                      </p:cBhvr>
                                      <p:to>
                                        <p:strVal val="visible"/>
                                      </p:to>
                                    </p:set>
                                    <p:animEffect transition="in" filter="fade">
                                      <p:cBhvr>
                                        <p:cTn id="71" dur="500"/>
                                        <p:tgtEl>
                                          <p:spTgt spid="8"/>
                                        </p:tgtEl>
                                      </p:cBhvr>
                                    </p:animEffect>
                                  </p:childTnLst>
                                </p:cTn>
                              </p:par>
                            </p:childTnLst>
                          </p:cTn>
                        </p:par>
                      </p:childTnLst>
                    </p:cTn>
                  </p:par>
                  <p:par>
                    <p:cTn id="72" fill="hold">
                      <p:stCondLst>
                        <p:cond delay="indefinite"/>
                      </p:stCondLst>
                      <p:childTnLst>
                        <p:par>
                          <p:cTn id="73" fill="hold">
                            <p:stCondLst>
                              <p:cond delay="0"/>
                            </p:stCondLst>
                            <p:childTnLst>
                              <p:par>
                                <p:cTn id="74" presetID="10" presetClass="entr" presetSubtype="0" fill="hold" nodeType="clickEffect">
                                  <p:stCondLst>
                                    <p:cond delay="0"/>
                                  </p:stCondLst>
                                  <p:childTnLst>
                                    <p:set>
                                      <p:cBhvr>
                                        <p:cTn id="75" dur="1" fill="hold">
                                          <p:stCondLst>
                                            <p:cond delay="0"/>
                                          </p:stCondLst>
                                        </p:cTn>
                                        <p:tgtEl>
                                          <p:spTgt spid="11"/>
                                        </p:tgtEl>
                                        <p:attrNameLst>
                                          <p:attrName>style.visibility</p:attrName>
                                        </p:attrNameLst>
                                      </p:cBhvr>
                                      <p:to>
                                        <p:strVal val="visible"/>
                                      </p:to>
                                    </p:set>
                                    <p:animEffect transition="in" filter="fade">
                                      <p:cBhvr>
                                        <p:cTn id="76" dur="500"/>
                                        <p:tgtEl>
                                          <p:spTgt spid="11"/>
                                        </p:tgtEl>
                                      </p:cBhvr>
                                    </p:animEffect>
                                  </p:childTnLst>
                                </p:cTn>
                              </p:par>
                              <p:par>
                                <p:cTn id="77" presetID="10" presetClass="entr" presetSubtype="0" fill="hold" grpId="0" nodeType="with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fade">
                                      <p:cBhvr>
                                        <p:cTn id="79"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6" grpId="0" animBg="1"/>
      <p:bldP spid="8" grpId="0" animBg="1"/>
      <p:bldP spid="10"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4495800" y="1730573"/>
            <a:ext cx="2209800" cy="1371600"/>
          </a:xfrm>
          <a:prstGeom prst="rect">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sp>
        <p:nvSpPr>
          <p:cNvPr id="2" name="Title 1"/>
          <p:cNvSpPr>
            <a:spLocks noGrp="1"/>
          </p:cNvSpPr>
          <p:nvPr>
            <p:ph type="title"/>
          </p:nvPr>
        </p:nvSpPr>
        <p:spPr>
          <a:xfrm>
            <a:off x="457200" y="38100"/>
            <a:ext cx="8229600" cy="857250"/>
          </a:xfrm>
        </p:spPr>
        <p:txBody>
          <a:bodyPr>
            <a:normAutofit/>
          </a:bodyPr>
          <a:lstStyle/>
          <a:p>
            <a:r>
              <a:rPr lang="en-US" sz="4000" b="1" u="sng" dirty="0">
                <a:latin typeface="Times New Roman" pitchFamily="18" charset="0"/>
                <a:cs typeface="Times New Roman" pitchFamily="18" charset="0"/>
              </a:rPr>
              <a:t>Class Variable / Static Variable</a:t>
            </a:r>
          </a:p>
        </p:txBody>
      </p:sp>
      <p:sp>
        <p:nvSpPr>
          <p:cNvPr id="3" name="Content Placeholder 2"/>
          <p:cNvSpPr>
            <a:spLocks noGrp="1"/>
          </p:cNvSpPr>
          <p:nvPr>
            <p:ph idx="1"/>
          </p:nvPr>
        </p:nvSpPr>
        <p:spPr>
          <a:xfrm>
            <a:off x="457200" y="971550"/>
            <a:ext cx="8229600" cy="3810000"/>
          </a:xfrm>
        </p:spPr>
        <p:txBody>
          <a:bodyPr>
            <a:normAutofit/>
          </a:bodyPr>
          <a:lstStyle/>
          <a:p>
            <a:pPr marL="0" indent="0">
              <a:buNone/>
            </a:pPr>
            <a:r>
              <a:rPr lang="en-US" sz="1600" dirty="0">
                <a:latin typeface="Times New Roman" pitchFamily="18" charset="0"/>
                <a:cs typeface="Times New Roman" pitchFamily="18" charset="0"/>
              </a:rPr>
              <a:t>Class variables are the variables whose single copy is available to all the instance of the class. If we modify the copy of class variable in an instance, it will affect all the copies in the other instance. </a:t>
            </a:r>
          </a:p>
          <a:p>
            <a:pPr marL="0" indent="0">
              <a:buNone/>
            </a:pPr>
            <a:r>
              <a:rPr lang="en-US" sz="1600" dirty="0">
                <a:latin typeface="Times New Roman" pitchFamily="18" charset="0"/>
                <a:cs typeface="Times New Roman" pitchFamily="18" charset="0"/>
              </a:rPr>
              <a:t>class Mobile</a:t>
            </a:r>
            <a:r>
              <a:rPr lang="en-US" sz="1600" b="1" dirty="0">
                <a:latin typeface="Times New Roman" pitchFamily="18" charset="0"/>
                <a:cs typeface="Times New Roman" pitchFamily="18" charset="0"/>
              </a:rPr>
              <a:t>:</a:t>
            </a:r>
          </a:p>
          <a:p>
            <a:pPr marL="0" indent="0">
              <a:buNone/>
            </a:pPr>
            <a:r>
              <a:rPr lang="en-US" sz="1600" b="1" dirty="0">
                <a:latin typeface="Times New Roman" pitchFamily="18" charset="0"/>
                <a:cs typeface="Times New Roman" pitchFamily="18" charset="0"/>
              </a:rPr>
              <a:t>     </a:t>
            </a:r>
            <a:r>
              <a:rPr lang="en-US" sz="1600" dirty="0" err="1">
                <a:latin typeface="Times New Roman" pitchFamily="18" charset="0"/>
                <a:cs typeface="Times New Roman" pitchFamily="18" charset="0"/>
              </a:rPr>
              <a:t>fp</a:t>
            </a:r>
            <a:r>
              <a:rPr lang="en-US" sz="1600" dirty="0">
                <a:latin typeface="Times New Roman" pitchFamily="18" charset="0"/>
                <a:cs typeface="Times New Roman" pitchFamily="18" charset="0"/>
              </a:rPr>
              <a:t> = ‘Yes’</a:t>
            </a:r>
          </a:p>
          <a:p>
            <a:pPr marL="0" indent="0">
              <a:buNone/>
            </a:pPr>
            <a:r>
              <a:rPr lang="en-US" sz="1600" b="1" dirty="0">
                <a:latin typeface="Times New Roman" pitchFamily="18" charset="0"/>
                <a:cs typeface="Times New Roman" pitchFamily="18" charset="0"/>
              </a:rPr>
              <a:t>     </a:t>
            </a:r>
            <a:r>
              <a:rPr lang="en-US" sz="1600" dirty="0">
                <a:cs typeface="Times New Roman" pitchFamily="18" charset="0"/>
              </a:rPr>
              <a:t>@</a:t>
            </a:r>
            <a:r>
              <a:rPr lang="en-US" sz="1600" dirty="0" err="1">
                <a:cs typeface="Times New Roman" pitchFamily="18" charset="0"/>
              </a:rPr>
              <a:t>classmethod</a:t>
            </a:r>
            <a:endParaRPr lang="en-US" sz="1600" dirty="0">
              <a:cs typeface="Times New Roman" pitchFamily="18" charset="0"/>
            </a:endParaRPr>
          </a:p>
          <a:p>
            <a:pPr marL="0" indent="0">
              <a:buNone/>
            </a:pP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def</a:t>
            </a:r>
            <a:r>
              <a:rPr lang="en-US" sz="1600" dirty="0">
                <a:latin typeface="Times New Roman" pitchFamily="18" charset="0"/>
                <a:cs typeface="Times New Roman" pitchFamily="18" charset="0"/>
              </a:rPr>
              <a:t> </a:t>
            </a:r>
            <a:r>
              <a:rPr lang="en-US" sz="1600" dirty="0" err="1">
                <a:latin typeface="Times New Roman" pitchFamily="18" charset="0"/>
                <a:cs typeface="Times New Roman" pitchFamily="18" charset="0"/>
              </a:rPr>
              <a:t>is_fp</a:t>
            </a:r>
            <a:r>
              <a:rPr lang="en-US" sz="1600" dirty="0">
                <a:latin typeface="Times New Roman" pitchFamily="18" charset="0"/>
                <a:cs typeface="Times New Roman" pitchFamily="18" charset="0"/>
              </a:rPr>
              <a:t>(</a:t>
            </a:r>
            <a:r>
              <a:rPr lang="en-US" sz="1600" dirty="0" err="1">
                <a:latin typeface="Times New Roman" pitchFamily="18" charset="0"/>
                <a:cs typeface="Times New Roman" pitchFamily="18" charset="0"/>
              </a:rPr>
              <a:t>cls</a:t>
            </a:r>
            <a:r>
              <a:rPr lang="en-US" sz="1600" dirty="0">
                <a:latin typeface="Times New Roman" pitchFamily="18" charset="0"/>
                <a:cs typeface="Times New Roman" pitchFamily="18" charset="0"/>
              </a:rPr>
              <a:t>):</a:t>
            </a:r>
          </a:p>
          <a:p>
            <a:pPr marL="0" indent="0">
              <a:buNone/>
            </a:pPr>
            <a:r>
              <a:rPr lang="en-US" sz="1600" dirty="0">
                <a:latin typeface="Times New Roman" pitchFamily="18" charset="0"/>
                <a:cs typeface="Times New Roman" pitchFamily="18" charset="0"/>
              </a:rPr>
              <a:t>           print(</a:t>
            </a:r>
            <a:r>
              <a:rPr lang="en-US" sz="1600" dirty="0" err="1">
                <a:latin typeface="Times New Roman" pitchFamily="18" charset="0"/>
                <a:cs typeface="Times New Roman" pitchFamily="18" charset="0"/>
              </a:rPr>
              <a:t>cls.fp</a:t>
            </a:r>
            <a:r>
              <a:rPr lang="en-US" sz="1600" dirty="0">
                <a:latin typeface="Times New Roman" pitchFamily="18" charset="0"/>
                <a:cs typeface="Times New Roman" pitchFamily="18" charset="0"/>
              </a:rPr>
              <a:t>)</a:t>
            </a:r>
          </a:p>
          <a:p>
            <a:pPr marL="0" indent="0">
              <a:buNone/>
            </a:pPr>
            <a:r>
              <a:rPr lang="en-US" sz="1600" dirty="0" err="1">
                <a:latin typeface="Times New Roman" pitchFamily="18" charset="0"/>
                <a:cs typeface="Times New Roman" pitchFamily="18" charset="0"/>
              </a:rPr>
              <a:t>realme</a:t>
            </a:r>
            <a:r>
              <a:rPr lang="en-US" sz="1600" dirty="0">
                <a:latin typeface="Times New Roman" pitchFamily="18" charset="0"/>
                <a:cs typeface="Times New Roman" pitchFamily="18" charset="0"/>
              </a:rPr>
              <a:t> = Mobile( )</a:t>
            </a:r>
            <a:endParaRPr lang="en-IN" sz="1600" dirty="0">
              <a:latin typeface="Times New Roman" pitchFamily="18" charset="0"/>
              <a:cs typeface="Times New Roman" pitchFamily="18" charset="0"/>
            </a:endParaRPr>
          </a:p>
          <a:p>
            <a:pPr marL="0" indent="0">
              <a:buNone/>
            </a:pPr>
            <a:r>
              <a:rPr lang="en-US" sz="1600" dirty="0" err="1">
                <a:latin typeface="Times New Roman" pitchFamily="18" charset="0"/>
                <a:cs typeface="Times New Roman" pitchFamily="18" charset="0"/>
              </a:rPr>
              <a:t>redmi</a:t>
            </a:r>
            <a:r>
              <a:rPr lang="en-US" sz="1600" dirty="0">
                <a:latin typeface="Times New Roman" pitchFamily="18" charset="0"/>
                <a:cs typeface="Times New Roman" pitchFamily="18" charset="0"/>
              </a:rPr>
              <a:t> = Mobile( )</a:t>
            </a:r>
          </a:p>
          <a:p>
            <a:pPr marL="0" indent="0">
              <a:buNone/>
            </a:pPr>
            <a:r>
              <a:rPr lang="en-US" sz="1600">
                <a:latin typeface="Times New Roman" pitchFamily="18" charset="0"/>
                <a:cs typeface="Times New Roman" pitchFamily="18" charset="0"/>
              </a:rPr>
              <a:t>demo </a:t>
            </a:r>
            <a:r>
              <a:rPr lang="en-US" sz="1600" dirty="0">
                <a:latin typeface="Times New Roman" pitchFamily="18" charset="0"/>
                <a:cs typeface="Times New Roman" pitchFamily="18" charset="0"/>
              </a:rPr>
              <a:t>= Mobile( )</a:t>
            </a:r>
          </a:p>
          <a:p>
            <a:pPr marL="0" indent="0">
              <a:buNone/>
            </a:pPr>
            <a:r>
              <a:rPr lang="en-US" sz="1600" dirty="0">
                <a:latin typeface="Times New Roman" pitchFamily="18" charset="0"/>
                <a:cs typeface="Times New Roman" pitchFamily="18" charset="0"/>
              </a:rPr>
              <a:t>print(</a:t>
            </a:r>
            <a:r>
              <a:rPr lang="en-US" sz="1600" dirty="0" err="1">
                <a:latin typeface="Times New Roman" pitchFamily="18" charset="0"/>
                <a:cs typeface="Times New Roman" pitchFamily="18" charset="0"/>
              </a:rPr>
              <a:t>Mobile.fp</a:t>
            </a:r>
            <a:r>
              <a:rPr lang="en-US" sz="1600" dirty="0">
                <a:latin typeface="Times New Roman" pitchFamily="18" charset="0"/>
                <a:cs typeface="Times New Roman" pitchFamily="18" charset="0"/>
              </a:rPr>
              <a:t>)</a:t>
            </a:r>
          </a:p>
        </p:txBody>
      </p:sp>
      <p:sp>
        <p:nvSpPr>
          <p:cNvPr id="7" name="Rectangle 6"/>
          <p:cNvSpPr/>
          <p:nvPr/>
        </p:nvSpPr>
        <p:spPr>
          <a:xfrm>
            <a:off x="4953000" y="1836950"/>
            <a:ext cx="1066800" cy="579423"/>
          </a:xfrm>
          <a:prstGeom prst="rect">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en-US" sz="1400" dirty="0" err="1">
                <a:latin typeface="Times New Roman" pitchFamily="18" charset="0"/>
                <a:cs typeface="Times New Roman" pitchFamily="18" charset="0"/>
              </a:rPr>
              <a:t>fp</a:t>
            </a:r>
            <a:r>
              <a:rPr lang="en-US" sz="1400" dirty="0">
                <a:latin typeface="Times New Roman" pitchFamily="18" charset="0"/>
                <a:cs typeface="Times New Roman" pitchFamily="18" charset="0"/>
              </a:rPr>
              <a:t> = ‘Yes’</a:t>
            </a:r>
            <a:endParaRPr lang="en-IN" sz="1400" dirty="0"/>
          </a:p>
        </p:txBody>
      </p:sp>
      <p:sp>
        <p:nvSpPr>
          <p:cNvPr id="10" name="TextBox 9"/>
          <p:cNvSpPr txBox="1"/>
          <p:nvPr/>
        </p:nvSpPr>
        <p:spPr>
          <a:xfrm>
            <a:off x="4724400" y="2721173"/>
            <a:ext cx="673582" cy="307777"/>
          </a:xfrm>
          <a:prstGeom prst="rect">
            <a:avLst/>
          </a:prstGeom>
          <a:noFill/>
        </p:spPr>
        <p:txBody>
          <a:bodyPr wrap="none" rtlCol="0">
            <a:spAutoFit/>
          </a:bodyPr>
          <a:lstStyle/>
          <a:p>
            <a:r>
              <a:rPr lang="en-US" sz="1400" dirty="0" err="1">
                <a:latin typeface="Times New Roman" pitchFamily="18" charset="0"/>
                <a:cs typeface="Times New Roman" pitchFamily="18" charset="0"/>
              </a:rPr>
              <a:t>realme</a:t>
            </a:r>
            <a:endParaRPr lang="en-IN" sz="1400" dirty="0">
              <a:latin typeface="Times New Roman" pitchFamily="18" charset="0"/>
              <a:cs typeface="Times New Roman" pitchFamily="18" charset="0"/>
            </a:endParaRPr>
          </a:p>
        </p:txBody>
      </p:sp>
      <p:sp>
        <p:nvSpPr>
          <p:cNvPr id="11" name="TextBox 10"/>
          <p:cNvSpPr txBox="1"/>
          <p:nvPr/>
        </p:nvSpPr>
        <p:spPr>
          <a:xfrm>
            <a:off x="5363736" y="2721173"/>
            <a:ext cx="603050" cy="307777"/>
          </a:xfrm>
          <a:prstGeom prst="rect">
            <a:avLst/>
          </a:prstGeom>
          <a:noFill/>
        </p:spPr>
        <p:txBody>
          <a:bodyPr wrap="none" rtlCol="0">
            <a:spAutoFit/>
          </a:bodyPr>
          <a:lstStyle/>
          <a:p>
            <a:r>
              <a:rPr lang="en-US" sz="1400" dirty="0" err="1">
                <a:latin typeface="Times New Roman" pitchFamily="18" charset="0"/>
                <a:cs typeface="Times New Roman" pitchFamily="18" charset="0"/>
              </a:rPr>
              <a:t>redmi</a:t>
            </a:r>
            <a:endParaRPr lang="en-IN" sz="1400" dirty="0">
              <a:latin typeface="Times New Roman" pitchFamily="18" charset="0"/>
              <a:cs typeface="Times New Roman" pitchFamily="18" charset="0"/>
            </a:endParaRPr>
          </a:p>
        </p:txBody>
      </p:sp>
      <p:sp>
        <p:nvSpPr>
          <p:cNvPr id="12" name="TextBox 11"/>
          <p:cNvSpPr txBox="1"/>
          <p:nvPr/>
        </p:nvSpPr>
        <p:spPr>
          <a:xfrm>
            <a:off x="5867400" y="2728610"/>
            <a:ext cx="524503" cy="307777"/>
          </a:xfrm>
          <a:prstGeom prst="rect">
            <a:avLst/>
          </a:prstGeom>
          <a:noFill/>
        </p:spPr>
        <p:txBody>
          <a:bodyPr wrap="none" rtlCol="0">
            <a:spAutoFit/>
          </a:bodyPr>
          <a:lstStyle/>
          <a:p>
            <a:r>
              <a:rPr lang="en-US" sz="1400" dirty="0">
                <a:latin typeface="Times New Roman" pitchFamily="18" charset="0"/>
                <a:cs typeface="Times New Roman" pitchFamily="18" charset="0"/>
              </a:rPr>
              <a:t>geek</a:t>
            </a:r>
            <a:endParaRPr lang="en-IN" sz="1400" dirty="0">
              <a:latin typeface="Times New Roman" pitchFamily="18" charset="0"/>
              <a:cs typeface="Times New Roman" pitchFamily="18" charset="0"/>
            </a:endParaRPr>
          </a:p>
        </p:txBody>
      </p:sp>
      <p:sp>
        <p:nvSpPr>
          <p:cNvPr id="14" name="TextBox 13"/>
          <p:cNvSpPr txBox="1"/>
          <p:nvPr/>
        </p:nvSpPr>
        <p:spPr>
          <a:xfrm>
            <a:off x="5020179" y="3102173"/>
            <a:ext cx="1228221" cy="307777"/>
          </a:xfrm>
          <a:prstGeom prst="rect">
            <a:avLst/>
          </a:prstGeom>
          <a:noFill/>
        </p:spPr>
        <p:txBody>
          <a:bodyPr wrap="none" rtlCol="0">
            <a:spAutoFit/>
          </a:bodyPr>
          <a:lstStyle/>
          <a:p>
            <a:r>
              <a:rPr lang="en-US" sz="1400" dirty="0">
                <a:latin typeface="Times New Roman" pitchFamily="18" charset="0"/>
                <a:cs typeface="Times New Roman" pitchFamily="18" charset="0"/>
              </a:rPr>
              <a:t>Heap Memory</a:t>
            </a:r>
            <a:endParaRPr lang="en-IN" sz="1400" dirty="0">
              <a:latin typeface="Times New Roman" pitchFamily="18" charset="0"/>
              <a:cs typeface="Times New Roman" pitchFamily="18" charset="0"/>
            </a:endParaRPr>
          </a:p>
        </p:txBody>
      </p:sp>
      <p:cxnSp>
        <p:nvCxnSpPr>
          <p:cNvPr id="15" name="Straight Arrow Connector 14"/>
          <p:cNvCxnSpPr>
            <a:stCxn id="10" idx="0"/>
          </p:cNvCxnSpPr>
          <p:nvPr/>
        </p:nvCxnSpPr>
        <p:spPr>
          <a:xfrm flipV="1">
            <a:off x="5061191" y="2416373"/>
            <a:ext cx="120409" cy="304800"/>
          </a:xfrm>
          <a:prstGeom prst="straightConnector1">
            <a:avLst/>
          </a:prstGeom>
          <a:ln>
            <a:headEnd type="arrow"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17" name="Straight Arrow Connector 16"/>
          <p:cNvCxnSpPr>
            <a:stCxn id="11" idx="0"/>
            <a:endCxn id="7" idx="2"/>
          </p:cNvCxnSpPr>
          <p:nvPr/>
        </p:nvCxnSpPr>
        <p:spPr>
          <a:xfrm flipH="1" flipV="1">
            <a:off x="5486400" y="2416373"/>
            <a:ext cx="178861" cy="304800"/>
          </a:xfrm>
          <a:prstGeom prst="straightConnector1">
            <a:avLst/>
          </a:prstGeom>
          <a:ln>
            <a:headEnd type="arrow" w="med" len="med"/>
            <a:tailEnd type="none" w="med" len="med"/>
          </a:ln>
        </p:spPr>
        <p:style>
          <a:lnRef idx="2">
            <a:schemeClr val="accent4"/>
          </a:lnRef>
          <a:fillRef idx="0">
            <a:schemeClr val="accent4"/>
          </a:fillRef>
          <a:effectRef idx="1">
            <a:schemeClr val="accent4"/>
          </a:effectRef>
          <a:fontRef idx="minor">
            <a:schemeClr val="tx1"/>
          </a:fontRef>
        </p:style>
      </p:cxnSp>
      <p:cxnSp>
        <p:nvCxnSpPr>
          <p:cNvPr id="19" name="Straight Arrow Connector 18"/>
          <p:cNvCxnSpPr>
            <a:stCxn id="12" idx="0"/>
          </p:cNvCxnSpPr>
          <p:nvPr/>
        </p:nvCxnSpPr>
        <p:spPr>
          <a:xfrm flipH="1" flipV="1">
            <a:off x="5867403" y="2416374"/>
            <a:ext cx="262249" cy="312236"/>
          </a:xfrm>
          <a:prstGeom prst="straightConnector1">
            <a:avLst/>
          </a:prstGeom>
          <a:ln>
            <a:headEnd type="arrow" w="med" len="med"/>
            <a:tailEnd type="none" w="med" len="med"/>
          </a:ln>
        </p:spPr>
        <p:style>
          <a:lnRef idx="2">
            <a:schemeClr val="accent4"/>
          </a:lnRef>
          <a:fillRef idx="0">
            <a:schemeClr val="accent4"/>
          </a:fillRef>
          <a:effectRef idx="1">
            <a:schemeClr val="accent4"/>
          </a:effectRef>
          <a:fontRef idx="minor">
            <a:schemeClr val="tx1"/>
          </a:fontRef>
        </p:style>
      </p:cxnSp>
    </p:spTree>
    <p:extLst>
      <p:ext uri="{BB962C8B-B14F-4D97-AF65-F5344CB8AC3E}">
        <p14:creationId xmlns:p14="http://schemas.microsoft.com/office/powerpoint/2010/main" val="3666444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8" end="8"/>
                                            </p:txEl>
                                          </p:spTgt>
                                        </p:tgtEl>
                                        <p:attrNameLst>
                                          <p:attrName>style.visibility</p:attrName>
                                        </p:attrNameLst>
                                      </p:cBhvr>
                                      <p:to>
                                        <p:strVal val="visible"/>
                                      </p:to>
                                    </p:set>
                                    <p:animEffect transition="in" filter="fade">
                                      <p:cBhvr>
                                        <p:cTn id="47" dur="500"/>
                                        <p:tgtEl>
                                          <p:spTgt spid="3">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10" presetClass="entr" presetSubtype="0" fill="hold" grpId="0" nodeType="clickEffect">
                                  <p:stCondLst>
                                    <p:cond delay="0"/>
                                  </p:stCondLst>
                                  <p:childTnLst>
                                    <p:set>
                                      <p:cBhvr>
                                        <p:cTn id="51" dur="1" fill="hold">
                                          <p:stCondLst>
                                            <p:cond delay="0"/>
                                          </p:stCondLst>
                                        </p:cTn>
                                        <p:tgtEl>
                                          <p:spTgt spid="3">
                                            <p:txEl>
                                              <p:pRg st="9" end="9"/>
                                            </p:txEl>
                                          </p:spTgt>
                                        </p:tgtEl>
                                        <p:attrNameLst>
                                          <p:attrName>style.visibility</p:attrName>
                                        </p:attrNameLst>
                                      </p:cBhvr>
                                      <p:to>
                                        <p:strVal val="visible"/>
                                      </p:to>
                                    </p:set>
                                    <p:animEffect transition="in" filter="fade">
                                      <p:cBhvr>
                                        <p:cTn id="52" dur="500"/>
                                        <p:tgtEl>
                                          <p:spTgt spid="3">
                                            <p:txEl>
                                              <p:pRg st="9" end="9"/>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16" presetClass="entr" presetSubtype="21" fill="hold" grpId="0" nodeType="clickEffect">
                                  <p:stCondLst>
                                    <p:cond delay="0"/>
                                  </p:stCondLst>
                                  <p:childTnLst>
                                    <p:set>
                                      <p:cBhvr>
                                        <p:cTn id="56" dur="1" fill="hold">
                                          <p:stCondLst>
                                            <p:cond delay="0"/>
                                          </p:stCondLst>
                                        </p:cTn>
                                        <p:tgtEl>
                                          <p:spTgt spid="13"/>
                                        </p:tgtEl>
                                        <p:attrNameLst>
                                          <p:attrName>style.visibility</p:attrName>
                                        </p:attrNameLst>
                                      </p:cBhvr>
                                      <p:to>
                                        <p:strVal val="visible"/>
                                      </p:to>
                                    </p:set>
                                    <p:animEffect transition="in" filter="barn(inVertical)">
                                      <p:cBhvr>
                                        <p:cTn id="57" dur="500"/>
                                        <p:tgtEl>
                                          <p:spTgt spid="13"/>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grpId="0" nodeType="clickEffect">
                                  <p:stCondLst>
                                    <p:cond delay="0"/>
                                  </p:stCondLst>
                                  <p:childTnLst>
                                    <p:set>
                                      <p:cBhvr>
                                        <p:cTn id="61" dur="1" fill="hold">
                                          <p:stCondLst>
                                            <p:cond delay="0"/>
                                          </p:stCondLst>
                                        </p:cTn>
                                        <p:tgtEl>
                                          <p:spTgt spid="14"/>
                                        </p:tgtEl>
                                        <p:attrNameLst>
                                          <p:attrName>style.visibility</p:attrName>
                                        </p:attrNameLst>
                                      </p:cBhvr>
                                      <p:to>
                                        <p:strVal val="visible"/>
                                      </p:to>
                                    </p:set>
                                    <p:animEffect transition="in" filter="fade">
                                      <p:cBhvr>
                                        <p:cTn id="62" dur="500"/>
                                        <p:tgtEl>
                                          <p:spTgt spid="14"/>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grpId="0" nodeType="clickEffect">
                                  <p:stCondLst>
                                    <p:cond delay="0"/>
                                  </p:stCondLst>
                                  <p:childTnLst>
                                    <p:set>
                                      <p:cBhvr>
                                        <p:cTn id="66" dur="1" fill="hold">
                                          <p:stCondLst>
                                            <p:cond delay="0"/>
                                          </p:stCondLst>
                                        </p:cTn>
                                        <p:tgtEl>
                                          <p:spTgt spid="10"/>
                                        </p:tgtEl>
                                        <p:attrNameLst>
                                          <p:attrName>style.visibility</p:attrName>
                                        </p:attrNameLst>
                                      </p:cBhvr>
                                      <p:to>
                                        <p:strVal val="visible"/>
                                      </p:to>
                                    </p:set>
                                    <p:animEffect transition="in" filter="fade">
                                      <p:cBhvr>
                                        <p:cTn id="67" dur="500"/>
                                        <p:tgtEl>
                                          <p:spTgt spid="10"/>
                                        </p:tgtEl>
                                      </p:cBhvr>
                                    </p:animEffect>
                                  </p:childTnLst>
                                </p:cTn>
                              </p:par>
                            </p:childTnLst>
                          </p:cTn>
                        </p:par>
                      </p:childTnLst>
                    </p:cTn>
                  </p:par>
                  <p:par>
                    <p:cTn id="68" fill="hold">
                      <p:stCondLst>
                        <p:cond delay="indefinite"/>
                      </p:stCondLst>
                      <p:childTnLst>
                        <p:par>
                          <p:cTn id="69" fill="hold">
                            <p:stCondLst>
                              <p:cond delay="0"/>
                            </p:stCondLst>
                            <p:childTnLst>
                              <p:par>
                                <p:cTn id="70" presetID="10" presetClass="entr" presetSubtype="0" fill="hold" grpId="0" nodeType="clickEffect">
                                  <p:stCondLst>
                                    <p:cond delay="0"/>
                                  </p:stCondLst>
                                  <p:childTnLst>
                                    <p:set>
                                      <p:cBhvr>
                                        <p:cTn id="71" dur="1" fill="hold">
                                          <p:stCondLst>
                                            <p:cond delay="0"/>
                                          </p:stCondLst>
                                        </p:cTn>
                                        <p:tgtEl>
                                          <p:spTgt spid="11"/>
                                        </p:tgtEl>
                                        <p:attrNameLst>
                                          <p:attrName>style.visibility</p:attrName>
                                        </p:attrNameLst>
                                      </p:cBhvr>
                                      <p:to>
                                        <p:strVal val="visible"/>
                                      </p:to>
                                    </p:set>
                                    <p:animEffect transition="in" filter="fade">
                                      <p:cBhvr>
                                        <p:cTn id="72" dur="500"/>
                                        <p:tgtEl>
                                          <p:spTgt spid="11"/>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12"/>
                                        </p:tgtEl>
                                        <p:attrNameLst>
                                          <p:attrName>style.visibility</p:attrName>
                                        </p:attrNameLst>
                                      </p:cBhvr>
                                      <p:to>
                                        <p:strVal val="visible"/>
                                      </p:to>
                                    </p:set>
                                    <p:animEffect transition="in" filter="fade">
                                      <p:cBhvr>
                                        <p:cTn id="77" dur="500"/>
                                        <p:tgtEl>
                                          <p:spTgt spid="12"/>
                                        </p:tgtEl>
                                      </p:cBhvr>
                                    </p:animEffect>
                                  </p:childTnLst>
                                </p:cTn>
                              </p:par>
                            </p:childTnLst>
                          </p:cTn>
                        </p:par>
                      </p:childTnLst>
                    </p:cTn>
                  </p:par>
                  <p:par>
                    <p:cTn id="78" fill="hold">
                      <p:stCondLst>
                        <p:cond delay="indefinite"/>
                      </p:stCondLst>
                      <p:childTnLst>
                        <p:par>
                          <p:cTn id="79" fill="hold">
                            <p:stCondLst>
                              <p:cond delay="0"/>
                            </p:stCondLst>
                            <p:childTnLst>
                              <p:par>
                                <p:cTn id="80" presetID="10" presetClass="entr" presetSubtype="0" fill="hold" grpId="0" nodeType="clickEffect">
                                  <p:stCondLst>
                                    <p:cond delay="0"/>
                                  </p:stCondLst>
                                  <p:childTnLst>
                                    <p:set>
                                      <p:cBhvr>
                                        <p:cTn id="81" dur="1" fill="hold">
                                          <p:stCondLst>
                                            <p:cond delay="0"/>
                                          </p:stCondLst>
                                        </p:cTn>
                                        <p:tgtEl>
                                          <p:spTgt spid="7"/>
                                        </p:tgtEl>
                                        <p:attrNameLst>
                                          <p:attrName>style.visibility</p:attrName>
                                        </p:attrNameLst>
                                      </p:cBhvr>
                                      <p:to>
                                        <p:strVal val="visible"/>
                                      </p:to>
                                    </p:set>
                                    <p:animEffect transition="in" filter="fade">
                                      <p:cBhvr>
                                        <p:cTn id="82" dur="500"/>
                                        <p:tgtEl>
                                          <p:spTgt spid="7"/>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15"/>
                                        </p:tgtEl>
                                        <p:attrNameLst>
                                          <p:attrName>style.visibility</p:attrName>
                                        </p:attrNameLst>
                                      </p:cBhvr>
                                      <p:to>
                                        <p:strVal val="visible"/>
                                      </p:to>
                                    </p:set>
                                    <p:animEffect transition="in" filter="wipe(down)">
                                      <p:cBhvr>
                                        <p:cTn id="87" dur="500"/>
                                        <p:tgtEl>
                                          <p:spTgt spid="15"/>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wipe(down)">
                                      <p:cBhvr>
                                        <p:cTn id="92" dur="500"/>
                                        <p:tgtEl>
                                          <p:spTgt spid="17"/>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nodeType="clickEffect">
                                  <p:stCondLst>
                                    <p:cond delay="0"/>
                                  </p:stCondLst>
                                  <p:childTnLst>
                                    <p:set>
                                      <p:cBhvr>
                                        <p:cTn id="96" dur="1" fill="hold">
                                          <p:stCondLst>
                                            <p:cond delay="0"/>
                                          </p:stCondLst>
                                        </p:cTn>
                                        <p:tgtEl>
                                          <p:spTgt spid="19"/>
                                        </p:tgtEl>
                                        <p:attrNameLst>
                                          <p:attrName>style.visibility</p:attrName>
                                        </p:attrNameLst>
                                      </p:cBhvr>
                                      <p:to>
                                        <p:strVal val="visible"/>
                                      </p:to>
                                    </p:set>
                                    <p:animEffect transition="in" filter="wipe(down)">
                                      <p:cBhvr>
                                        <p:cTn id="97"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3" grpId="0" build="p"/>
      <p:bldP spid="7" grpId="0" animBg="1"/>
      <p:bldP spid="10" grpId="0"/>
      <p:bldP spid="11" grpId="0"/>
      <p:bldP spid="12" grpId="0"/>
      <p:bldP spid="14"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445</TotalTime>
  <Words>713</Words>
  <Application>Microsoft Office PowerPoint</Application>
  <PresentationFormat>On-screen Show (16:9)</PresentationFormat>
  <Paragraphs>124</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Arial</vt:lpstr>
      <vt:lpstr>Calibri</vt:lpstr>
      <vt:lpstr>Times New Roman</vt:lpstr>
      <vt:lpstr>Office Theme</vt:lpstr>
      <vt:lpstr>Type of Variable</vt:lpstr>
      <vt:lpstr>Instance Variable </vt:lpstr>
      <vt:lpstr>Accessing Instance Variable </vt:lpstr>
      <vt:lpstr>Accessing Instance Variable </vt:lpstr>
      <vt:lpstr>Instance Variable </vt:lpstr>
      <vt:lpstr>Class Variable / Static Variable</vt:lpstr>
      <vt:lpstr>Accessing Class/Static Variable </vt:lpstr>
      <vt:lpstr>Accessing Class/Static Variable</vt:lpstr>
      <vt:lpstr>Class Variable / Static Variable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Type of Variable</dc:title>
  <dc:creator>RK</dc:creator>
  <cp:lastModifiedBy>easwara murthi</cp:lastModifiedBy>
  <cp:revision>66</cp:revision>
  <dcterms:created xsi:type="dcterms:W3CDTF">2006-08-16T00:00:00Z</dcterms:created>
  <dcterms:modified xsi:type="dcterms:W3CDTF">2025-05-26T08:39:15Z</dcterms:modified>
</cp:coreProperties>
</file>